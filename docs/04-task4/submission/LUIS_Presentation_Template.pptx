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0"/>
      <p:bold r:id="rId11"/>
      <p:italic r:id="rId12"/>
      <p:boldItalic r:id="rId13"/>
    </p:embeddedFont>
    <p:embeddedFont>
      <p:font typeface="Roboto Slab" pitchFamily="2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FFF"/>
    <a:srgbClr val="BDD2B1"/>
    <a:srgbClr val="F3BD8F"/>
    <a:srgbClr val="ACD0E0"/>
    <a:srgbClr val="00517C"/>
    <a:srgbClr val="039BE5"/>
    <a:srgbClr val="54965E"/>
    <a:srgbClr val="EEEEEE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23" autoAdjust="0"/>
    <p:restoredTop sz="81408"/>
  </p:normalViewPr>
  <p:slideViewPr>
    <p:cSldViewPr snapToGrid="0">
      <p:cViewPr varScale="1">
        <p:scale>
          <a:sx n="119" d="100"/>
          <a:sy n="119" d="100"/>
        </p:scale>
        <p:origin x="972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5">
  <dgm:title val=""/>
  <dgm:desc val=""/>
  <dgm:catLst>
    <dgm:cat type="accent5" pri="11500"/>
  </dgm:catLst>
  <dgm:styleLbl name="node0">
    <dgm:fillClrLst meth="cycle">
      <a:schemeClr val="accent5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alpha val="9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alpha val="90000"/>
      </a:schemeClr>
      <a:schemeClr val="accent5">
        <a:alpha val="5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/>
    <dgm:txEffectClrLst/>
  </dgm:styleLbl>
  <dgm:styleLbl name="lnNode1">
    <dgm:fillClrLst>
      <a:schemeClr val="accent5">
        <a:shade val="90000"/>
      </a:schemeClr>
      <a:schemeClr val="accent5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  <a:alpha val="90000"/>
      </a:schemeClr>
      <a:schemeClr val="accent5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alpha val="90000"/>
        <a:tint val="40000"/>
      </a:schemeClr>
      <a:schemeClr val="accent5">
        <a:alpha val="5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6AB4B9-FBFB-4CE3-82EE-B2390A8F100B}" type="doc">
      <dgm:prSet loTypeId="urn:microsoft.com/office/officeart/2005/8/layout/cycle1" loCatId="cycle" qsTypeId="urn:microsoft.com/office/officeart/2005/8/quickstyle/simple5" qsCatId="simple" csTypeId="urn:microsoft.com/office/officeart/2005/8/colors/accent5_5" csCatId="accent5" phldr="1"/>
      <dgm:spPr/>
      <dgm:t>
        <a:bodyPr/>
        <a:lstStyle/>
        <a:p>
          <a:endParaRPr lang="en-AU"/>
        </a:p>
      </dgm:t>
    </dgm:pt>
    <dgm:pt modelId="{D22FF014-4EB2-4430-AB27-B4A4B9D77321}">
      <dgm:prSet phldrT="[Text]" phldr="0" custT="1"/>
      <dgm:spPr/>
      <dgm:t>
        <a:bodyPr/>
        <a:lstStyle/>
        <a:p>
          <a:r>
            <a:rPr lang="en-US" sz="1900" b="1" u="none" dirty="0">
              <a:solidFill>
                <a:srgbClr val="54965E"/>
              </a:solidFill>
              <a:latin typeface="Roboto Slab" pitchFamily="2" charset="0"/>
              <a:ea typeface="Roboto Slab" pitchFamily="2" charset="0"/>
              <a:cs typeface="Roboto Slab" pitchFamily="2" charset="0"/>
            </a:rPr>
            <a:t>DECISION</a:t>
          </a:r>
          <a:endParaRPr lang="en-AU" sz="1900" b="1" u="none" dirty="0">
            <a:solidFill>
              <a:srgbClr val="54965E"/>
            </a:solidFill>
            <a:latin typeface="Roboto Slab" pitchFamily="2" charset="0"/>
            <a:ea typeface="Roboto Slab" pitchFamily="2" charset="0"/>
            <a:cs typeface="Roboto Slab" pitchFamily="2" charset="0"/>
          </a:endParaRPr>
        </a:p>
      </dgm:t>
    </dgm:pt>
    <dgm:pt modelId="{05D69A67-38E1-4683-86D3-637F73EDBFC5}" type="parTrans" cxnId="{4BB64610-1143-461A-A2B0-4DB8E0976BC8}">
      <dgm:prSet/>
      <dgm:spPr/>
      <dgm:t>
        <a:bodyPr/>
        <a:lstStyle/>
        <a:p>
          <a:endParaRPr lang="en-AU"/>
        </a:p>
      </dgm:t>
    </dgm:pt>
    <dgm:pt modelId="{36D0780E-42C0-4BF5-BEC1-394179240842}" type="sibTrans" cxnId="{4BB64610-1143-461A-A2B0-4DB8E0976BC8}">
      <dgm:prSet/>
      <dgm:spPr/>
      <dgm:t>
        <a:bodyPr/>
        <a:lstStyle/>
        <a:p>
          <a:endParaRPr lang="en-AU"/>
        </a:p>
      </dgm:t>
    </dgm:pt>
    <dgm:pt modelId="{9B20FABF-5C44-48AC-A175-D212702046AF}">
      <dgm:prSet phldrT="[Text]" phldr="0" custT="1"/>
      <dgm:spPr/>
      <dgm:t>
        <a:bodyPr/>
        <a:lstStyle/>
        <a:p>
          <a:r>
            <a:rPr lang="en-US" sz="1900" b="1" u="none" dirty="0">
              <a:solidFill>
                <a:srgbClr val="54965E"/>
              </a:solidFill>
              <a:latin typeface="Roboto Slab" pitchFamily="2" charset="0"/>
              <a:ea typeface="Roboto Slab" pitchFamily="2" charset="0"/>
              <a:cs typeface="Roboto Slab" pitchFamily="2" charset="0"/>
            </a:rPr>
            <a:t>ACTIONS</a:t>
          </a:r>
          <a:endParaRPr lang="en-AU" sz="1900" b="1" u="none" dirty="0">
            <a:solidFill>
              <a:srgbClr val="54965E"/>
            </a:solidFill>
            <a:latin typeface="Roboto Slab" pitchFamily="2" charset="0"/>
            <a:ea typeface="Roboto Slab" pitchFamily="2" charset="0"/>
            <a:cs typeface="Roboto Slab" pitchFamily="2" charset="0"/>
          </a:endParaRPr>
        </a:p>
      </dgm:t>
    </dgm:pt>
    <dgm:pt modelId="{9055EDA0-62C3-46B7-889C-408C6332230E}" type="parTrans" cxnId="{EE2AB22C-673A-434F-BFE3-AF0343C52954}">
      <dgm:prSet/>
      <dgm:spPr/>
      <dgm:t>
        <a:bodyPr/>
        <a:lstStyle/>
        <a:p>
          <a:endParaRPr lang="en-AU"/>
        </a:p>
      </dgm:t>
    </dgm:pt>
    <dgm:pt modelId="{C06430BF-028C-4FD3-9585-3C63489D677B}" type="sibTrans" cxnId="{EE2AB22C-673A-434F-BFE3-AF0343C52954}">
      <dgm:prSet/>
      <dgm:spPr/>
      <dgm:t>
        <a:bodyPr/>
        <a:lstStyle/>
        <a:p>
          <a:endParaRPr lang="en-AU"/>
        </a:p>
      </dgm:t>
    </dgm:pt>
    <dgm:pt modelId="{ADC13AD5-7AD3-45D4-8743-0C2F39A63E99}">
      <dgm:prSet phldrT="[Text]" phldr="0" custT="1"/>
      <dgm:spPr/>
      <dgm:t>
        <a:bodyPr/>
        <a:lstStyle/>
        <a:p>
          <a:r>
            <a:rPr lang="en-US" sz="1900" b="1" u="none" dirty="0">
              <a:solidFill>
                <a:srgbClr val="54965E"/>
              </a:solidFill>
              <a:latin typeface="Roboto Slab" pitchFamily="2" charset="0"/>
              <a:ea typeface="Roboto Slab" pitchFamily="2" charset="0"/>
              <a:cs typeface="Roboto Slab" pitchFamily="2" charset="0"/>
            </a:rPr>
            <a:t>LEARNING</a:t>
          </a:r>
          <a:endParaRPr lang="en-AU" sz="1900" b="1" u="none" dirty="0">
            <a:solidFill>
              <a:srgbClr val="54965E"/>
            </a:solidFill>
            <a:latin typeface="Roboto Slab" pitchFamily="2" charset="0"/>
            <a:ea typeface="Roboto Slab" pitchFamily="2" charset="0"/>
            <a:cs typeface="Roboto Slab" pitchFamily="2" charset="0"/>
          </a:endParaRPr>
        </a:p>
      </dgm:t>
    </dgm:pt>
    <dgm:pt modelId="{34A12F28-0575-45F3-BC5B-5CB5AB78FA22}" type="parTrans" cxnId="{B2072C28-8ABF-4E72-B742-CDB5A9C090C9}">
      <dgm:prSet/>
      <dgm:spPr/>
      <dgm:t>
        <a:bodyPr/>
        <a:lstStyle/>
        <a:p>
          <a:endParaRPr lang="en-AU"/>
        </a:p>
      </dgm:t>
    </dgm:pt>
    <dgm:pt modelId="{AE05FB64-0A3C-48DC-B66D-10CB6A8CC76C}" type="sibTrans" cxnId="{B2072C28-8ABF-4E72-B742-CDB5A9C090C9}">
      <dgm:prSet/>
      <dgm:spPr/>
      <dgm:t>
        <a:bodyPr/>
        <a:lstStyle/>
        <a:p>
          <a:endParaRPr lang="en-AU"/>
        </a:p>
      </dgm:t>
    </dgm:pt>
    <dgm:pt modelId="{64E41B23-1B2C-4BA2-902C-F0F5B22D7081}">
      <dgm:prSet phldrT="[Text]" phldr="0" custT="1"/>
      <dgm:spPr/>
      <dgm:t>
        <a:bodyPr/>
        <a:lstStyle/>
        <a:p>
          <a:r>
            <a:rPr lang="en-US" sz="1900" b="1" u="none" dirty="0">
              <a:solidFill>
                <a:srgbClr val="54965E"/>
              </a:solidFill>
              <a:latin typeface="Roboto Slab" pitchFamily="2" charset="0"/>
              <a:ea typeface="Roboto Slab" pitchFamily="2" charset="0"/>
              <a:cs typeface="Roboto Slab" pitchFamily="2" charset="0"/>
            </a:rPr>
            <a:t>INPUT</a:t>
          </a:r>
          <a:endParaRPr lang="en-AU" sz="1900" b="1" u="none" dirty="0">
            <a:solidFill>
              <a:srgbClr val="54965E"/>
            </a:solidFill>
            <a:latin typeface="Roboto Slab" pitchFamily="2" charset="0"/>
            <a:ea typeface="Roboto Slab" pitchFamily="2" charset="0"/>
            <a:cs typeface="Roboto Slab" pitchFamily="2" charset="0"/>
          </a:endParaRPr>
        </a:p>
      </dgm:t>
    </dgm:pt>
    <dgm:pt modelId="{AD089A88-13FE-4845-BEBF-06A64F4D5FFC}" type="parTrans" cxnId="{F92038DC-D40A-440F-9911-9BAF70328AEC}">
      <dgm:prSet/>
      <dgm:spPr/>
      <dgm:t>
        <a:bodyPr/>
        <a:lstStyle/>
        <a:p>
          <a:endParaRPr lang="en-AU"/>
        </a:p>
      </dgm:t>
    </dgm:pt>
    <dgm:pt modelId="{A33667D2-C80F-428B-AB9D-5B684347DE86}" type="sibTrans" cxnId="{F92038DC-D40A-440F-9911-9BAF70328AEC}">
      <dgm:prSet/>
      <dgm:spPr/>
      <dgm:t>
        <a:bodyPr/>
        <a:lstStyle/>
        <a:p>
          <a:endParaRPr lang="en-AU"/>
        </a:p>
      </dgm:t>
    </dgm:pt>
    <dgm:pt modelId="{7F9E940A-1885-43F9-BFE2-20F0D0FD9DF8}" type="pres">
      <dgm:prSet presAssocID="{806AB4B9-FBFB-4CE3-82EE-B2390A8F100B}" presName="cycle" presStyleCnt="0">
        <dgm:presLayoutVars>
          <dgm:dir/>
          <dgm:resizeHandles val="exact"/>
        </dgm:presLayoutVars>
      </dgm:prSet>
      <dgm:spPr/>
    </dgm:pt>
    <dgm:pt modelId="{DE8DAE7E-08CA-4AA0-A6FE-994E79E46E97}" type="pres">
      <dgm:prSet presAssocID="{D22FF014-4EB2-4430-AB27-B4A4B9D77321}" presName="dummy" presStyleCnt="0"/>
      <dgm:spPr/>
    </dgm:pt>
    <dgm:pt modelId="{0D13F300-B9AE-4B6B-86A6-812609C3742F}" type="pres">
      <dgm:prSet presAssocID="{D22FF014-4EB2-4430-AB27-B4A4B9D77321}" presName="node" presStyleLbl="revTx" presStyleIdx="0" presStyleCnt="4">
        <dgm:presLayoutVars>
          <dgm:bulletEnabled val="1"/>
        </dgm:presLayoutVars>
      </dgm:prSet>
      <dgm:spPr/>
    </dgm:pt>
    <dgm:pt modelId="{59ECD698-0CA2-4EE0-AEDF-BB0E45186E0E}" type="pres">
      <dgm:prSet presAssocID="{36D0780E-42C0-4BF5-BEC1-394179240842}" presName="sibTrans" presStyleLbl="node1" presStyleIdx="0" presStyleCnt="4"/>
      <dgm:spPr/>
    </dgm:pt>
    <dgm:pt modelId="{C1782380-B42D-4A64-AF19-F30A5E92EF09}" type="pres">
      <dgm:prSet presAssocID="{9B20FABF-5C44-48AC-A175-D212702046AF}" presName="dummy" presStyleCnt="0"/>
      <dgm:spPr/>
    </dgm:pt>
    <dgm:pt modelId="{25877CF3-20D5-4B57-9287-0504BD7C4F59}" type="pres">
      <dgm:prSet presAssocID="{9B20FABF-5C44-48AC-A175-D212702046AF}" presName="node" presStyleLbl="revTx" presStyleIdx="1" presStyleCnt="4">
        <dgm:presLayoutVars>
          <dgm:bulletEnabled val="1"/>
        </dgm:presLayoutVars>
      </dgm:prSet>
      <dgm:spPr/>
    </dgm:pt>
    <dgm:pt modelId="{68C2067B-00FB-44D3-BD5F-DF21A078CF52}" type="pres">
      <dgm:prSet presAssocID="{C06430BF-028C-4FD3-9585-3C63489D677B}" presName="sibTrans" presStyleLbl="node1" presStyleIdx="1" presStyleCnt="4"/>
      <dgm:spPr/>
    </dgm:pt>
    <dgm:pt modelId="{DA41ED7F-12A6-4B6C-8935-2FAE5B4CA9A0}" type="pres">
      <dgm:prSet presAssocID="{ADC13AD5-7AD3-45D4-8743-0C2F39A63E99}" presName="dummy" presStyleCnt="0"/>
      <dgm:spPr/>
    </dgm:pt>
    <dgm:pt modelId="{05E2C8D7-8989-40D4-9D90-5504B5DE09B9}" type="pres">
      <dgm:prSet presAssocID="{ADC13AD5-7AD3-45D4-8743-0C2F39A63E99}" presName="node" presStyleLbl="revTx" presStyleIdx="2" presStyleCnt="4">
        <dgm:presLayoutVars>
          <dgm:bulletEnabled val="1"/>
        </dgm:presLayoutVars>
      </dgm:prSet>
      <dgm:spPr/>
    </dgm:pt>
    <dgm:pt modelId="{EC9749B0-6FC1-40AC-B27B-BFEA9BA71E87}" type="pres">
      <dgm:prSet presAssocID="{AE05FB64-0A3C-48DC-B66D-10CB6A8CC76C}" presName="sibTrans" presStyleLbl="node1" presStyleIdx="2" presStyleCnt="4"/>
      <dgm:spPr/>
    </dgm:pt>
    <dgm:pt modelId="{1E9C5427-2B9A-4F85-8BCD-B066EAFC597E}" type="pres">
      <dgm:prSet presAssocID="{64E41B23-1B2C-4BA2-902C-F0F5B22D7081}" presName="dummy" presStyleCnt="0"/>
      <dgm:spPr/>
    </dgm:pt>
    <dgm:pt modelId="{57090802-1177-4044-A1DD-903113133D13}" type="pres">
      <dgm:prSet presAssocID="{64E41B23-1B2C-4BA2-902C-F0F5B22D7081}" presName="node" presStyleLbl="revTx" presStyleIdx="3" presStyleCnt="4">
        <dgm:presLayoutVars>
          <dgm:bulletEnabled val="1"/>
        </dgm:presLayoutVars>
      </dgm:prSet>
      <dgm:spPr/>
    </dgm:pt>
    <dgm:pt modelId="{7E7C8CFC-152F-45CA-B331-E18BD428D7B2}" type="pres">
      <dgm:prSet presAssocID="{A33667D2-C80F-428B-AB9D-5B684347DE86}" presName="sibTrans" presStyleLbl="node1" presStyleIdx="3" presStyleCnt="4"/>
      <dgm:spPr/>
    </dgm:pt>
  </dgm:ptLst>
  <dgm:cxnLst>
    <dgm:cxn modelId="{4BB64610-1143-461A-A2B0-4DB8E0976BC8}" srcId="{806AB4B9-FBFB-4CE3-82EE-B2390A8F100B}" destId="{D22FF014-4EB2-4430-AB27-B4A4B9D77321}" srcOrd="0" destOrd="0" parTransId="{05D69A67-38E1-4683-86D3-637F73EDBFC5}" sibTransId="{36D0780E-42C0-4BF5-BEC1-394179240842}"/>
    <dgm:cxn modelId="{B2072C28-8ABF-4E72-B742-CDB5A9C090C9}" srcId="{806AB4B9-FBFB-4CE3-82EE-B2390A8F100B}" destId="{ADC13AD5-7AD3-45D4-8743-0C2F39A63E99}" srcOrd="2" destOrd="0" parTransId="{34A12F28-0575-45F3-BC5B-5CB5AB78FA22}" sibTransId="{AE05FB64-0A3C-48DC-B66D-10CB6A8CC76C}"/>
    <dgm:cxn modelId="{7F63A62C-6DD9-4490-8FAC-A68B1594CF96}" type="presOf" srcId="{D22FF014-4EB2-4430-AB27-B4A4B9D77321}" destId="{0D13F300-B9AE-4B6B-86A6-812609C3742F}" srcOrd="0" destOrd="0" presId="urn:microsoft.com/office/officeart/2005/8/layout/cycle1"/>
    <dgm:cxn modelId="{EE2AB22C-673A-434F-BFE3-AF0343C52954}" srcId="{806AB4B9-FBFB-4CE3-82EE-B2390A8F100B}" destId="{9B20FABF-5C44-48AC-A175-D212702046AF}" srcOrd="1" destOrd="0" parTransId="{9055EDA0-62C3-46B7-889C-408C6332230E}" sibTransId="{C06430BF-028C-4FD3-9585-3C63489D677B}"/>
    <dgm:cxn modelId="{B401A43E-3A70-4342-B41A-A546ACF73F0C}" type="presOf" srcId="{36D0780E-42C0-4BF5-BEC1-394179240842}" destId="{59ECD698-0CA2-4EE0-AEDF-BB0E45186E0E}" srcOrd="0" destOrd="0" presId="urn:microsoft.com/office/officeart/2005/8/layout/cycle1"/>
    <dgm:cxn modelId="{EB60325E-18AB-4344-B50D-257C3D2FDB01}" type="presOf" srcId="{C06430BF-028C-4FD3-9585-3C63489D677B}" destId="{68C2067B-00FB-44D3-BD5F-DF21A078CF52}" srcOrd="0" destOrd="0" presId="urn:microsoft.com/office/officeart/2005/8/layout/cycle1"/>
    <dgm:cxn modelId="{DCCDDA67-709C-4F23-A5C6-3FBE3412B446}" type="presOf" srcId="{806AB4B9-FBFB-4CE3-82EE-B2390A8F100B}" destId="{7F9E940A-1885-43F9-BFE2-20F0D0FD9DF8}" srcOrd="0" destOrd="0" presId="urn:microsoft.com/office/officeart/2005/8/layout/cycle1"/>
    <dgm:cxn modelId="{706BA87D-6D03-464B-B50C-FF292655A198}" type="presOf" srcId="{A33667D2-C80F-428B-AB9D-5B684347DE86}" destId="{7E7C8CFC-152F-45CA-B331-E18BD428D7B2}" srcOrd="0" destOrd="0" presId="urn:microsoft.com/office/officeart/2005/8/layout/cycle1"/>
    <dgm:cxn modelId="{AFD3D684-D1FE-43F4-906F-27C583452E69}" type="presOf" srcId="{9B20FABF-5C44-48AC-A175-D212702046AF}" destId="{25877CF3-20D5-4B57-9287-0504BD7C4F59}" srcOrd="0" destOrd="0" presId="urn:microsoft.com/office/officeart/2005/8/layout/cycle1"/>
    <dgm:cxn modelId="{8534D2A3-359F-42C4-9FA5-BB2F00A8102A}" type="presOf" srcId="{ADC13AD5-7AD3-45D4-8743-0C2F39A63E99}" destId="{05E2C8D7-8989-40D4-9D90-5504B5DE09B9}" srcOrd="0" destOrd="0" presId="urn:microsoft.com/office/officeart/2005/8/layout/cycle1"/>
    <dgm:cxn modelId="{57FCD0AD-3D2E-4649-99B9-26161F4368E1}" type="presOf" srcId="{AE05FB64-0A3C-48DC-B66D-10CB6A8CC76C}" destId="{EC9749B0-6FC1-40AC-B27B-BFEA9BA71E87}" srcOrd="0" destOrd="0" presId="urn:microsoft.com/office/officeart/2005/8/layout/cycle1"/>
    <dgm:cxn modelId="{531BA8D2-2181-4DC5-AF00-A12F9293F487}" type="presOf" srcId="{64E41B23-1B2C-4BA2-902C-F0F5B22D7081}" destId="{57090802-1177-4044-A1DD-903113133D13}" srcOrd="0" destOrd="0" presId="urn:microsoft.com/office/officeart/2005/8/layout/cycle1"/>
    <dgm:cxn modelId="{F92038DC-D40A-440F-9911-9BAF70328AEC}" srcId="{806AB4B9-FBFB-4CE3-82EE-B2390A8F100B}" destId="{64E41B23-1B2C-4BA2-902C-F0F5B22D7081}" srcOrd="3" destOrd="0" parTransId="{AD089A88-13FE-4845-BEBF-06A64F4D5FFC}" sibTransId="{A33667D2-C80F-428B-AB9D-5B684347DE86}"/>
    <dgm:cxn modelId="{56E5B489-5E43-4DAB-B712-88A831999101}" type="presParOf" srcId="{7F9E940A-1885-43F9-BFE2-20F0D0FD9DF8}" destId="{DE8DAE7E-08CA-4AA0-A6FE-994E79E46E97}" srcOrd="0" destOrd="0" presId="urn:microsoft.com/office/officeart/2005/8/layout/cycle1"/>
    <dgm:cxn modelId="{A32C48B1-241B-4688-95DC-F52E5F6D3347}" type="presParOf" srcId="{7F9E940A-1885-43F9-BFE2-20F0D0FD9DF8}" destId="{0D13F300-B9AE-4B6B-86A6-812609C3742F}" srcOrd="1" destOrd="0" presId="urn:microsoft.com/office/officeart/2005/8/layout/cycle1"/>
    <dgm:cxn modelId="{F2ABA24A-DAA5-4901-BDE3-DC1D21D9DAEB}" type="presParOf" srcId="{7F9E940A-1885-43F9-BFE2-20F0D0FD9DF8}" destId="{59ECD698-0CA2-4EE0-AEDF-BB0E45186E0E}" srcOrd="2" destOrd="0" presId="urn:microsoft.com/office/officeart/2005/8/layout/cycle1"/>
    <dgm:cxn modelId="{EF7679B8-1CBF-4399-85CE-9C034E11DB21}" type="presParOf" srcId="{7F9E940A-1885-43F9-BFE2-20F0D0FD9DF8}" destId="{C1782380-B42D-4A64-AF19-F30A5E92EF09}" srcOrd="3" destOrd="0" presId="urn:microsoft.com/office/officeart/2005/8/layout/cycle1"/>
    <dgm:cxn modelId="{57B45190-0C85-49E2-97DB-2E4D5771B4E4}" type="presParOf" srcId="{7F9E940A-1885-43F9-BFE2-20F0D0FD9DF8}" destId="{25877CF3-20D5-4B57-9287-0504BD7C4F59}" srcOrd="4" destOrd="0" presId="urn:microsoft.com/office/officeart/2005/8/layout/cycle1"/>
    <dgm:cxn modelId="{C2B2A218-9E78-4093-94F8-0BDA60730CA8}" type="presParOf" srcId="{7F9E940A-1885-43F9-BFE2-20F0D0FD9DF8}" destId="{68C2067B-00FB-44D3-BD5F-DF21A078CF52}" srcOrd="5" destOrd="0" presId="urn:microsoft.com/office/officeart/2005/8/layout/cycle1"/>
    <dgm:cxn modelId="{5EBF7081-E5AE-449B-B4D2-A37702407E6D}" type="presParOf" srcId="{7F9E940A-1885-43F9-BFE2-20F0D0FD9DF8}" destId="{DA41ED7F-12A6-4B6C-8935-2FAE5B4CA9A0}" srcOrd="6" destOrd="0" presId="urn:microsoft.com/office/officeart/2005/8/layout/cycle1"/>
    <dgm:cxn modelId="{6CE7A838-BCB3-40E4-B5BB-717245FCD78C}" type="presParOf" srcId="{7F9E940A-1885-43F9-BFE2-20F0D0FD9DF8}" destId="{05E2C8D7-8989-40D4-9D90-5504B5DE09B9}" srcOrd="7" destOrd="0" presId="urn:microsoft.com/office/officeart/2005/8/layout/cycle1"/>
    <dgm:cxn modelId="{2B8BD7F3-B92B-49F5-8A71-4F4C22DB4DB3}" type="presParOf" srcId="{7F9E940A-1885-43F9-BFE2-20F0D0FD9DF8}" destId="{EC9749B0-6FC1-40AC-B27B-BFEA9BA71E87}" srcOrd="8" destOrd="0" presId="urn:microsoft.com/office/officeart/2005/8/layout/cycle1"/>
    <dgm:cxn modelId="{C754625D-50CF-439F-9299-4B05AE056A9A}" type="presParOf" srcId="{7F9E940A-1885-43F9-BFE2-20F0D0FD9DF8}" destId="{1E9C5427-2B9A-4F85-8BCD-B066EAFC597E}" srcOrd="9" destOrd="0" presId="urn:microsoft.com/office/officeart/2005/8/layout/cycle1"/>
    <dgm:cxn modelId="{FA202FA5-DF73-43A2-AFB5-B7D4E3328076}" type="presParOf" srcId="{7F9E940A-1885-43F9-BFE2-20F0D0FD9DF8}" destId="{57090802-1177-4044-A1DD-903113133D13}" srcOrd="10" destOrd="0" presId="urn:microsoft.com/office/officeart/2005/8/layout/cycle1"/>
    <dgm:cxn modelId="{C6C55D52-E848-4428-98FF-CDBD941405F8}" type="presParOf" srcId="{7F9E940A-1885-43F9-BFE2-20F0D0FD9DF8}" destId="{7E7C8CFC-152F-45CA-B331-E18BD428D7B2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518F34F-F385-4D2D-A0A2-68FD5ACCA2C9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AU"/>
        </a:p>
      </dgm:t>
    </dgm:pt>
    <dgm:pt modelId="{A3DE102B-D4DF-44CD-82C4-2A358D21EC6C}">
      <dgm:prSet phldrT="[Text]" phldr="0" custT="1"/>
      <dgm:spPr/>
      <dgm:t>
        <a:bodyPr/>
        <a:lstStyle/>
        <a:p>
          <a:r>
            <a:rPr lang="en-US" sz="1200" b="1" dirty="0">
              <a:solidFill>
                <a:schemeClr val="tx1"/>
              </a:solidFill>
              <a:latin typeface="Roboto Slab" pitchFamily="2" charset="0"/>
              <a:ea typeface="Roboto Slab" pitchFamily="2" charset="0"/>
              <a:cs typeface="Roboto Slab" pitchFamily="2" charset="0"/>
            </a:rPr>
            <a:t>Fairness</a:t>
          </a:r>
          <a:endParaRPr lang="en-AU" sz="1200" b="1" dirty="0">
            <a:solidFill>
              <a:schemeClr val="tx1"/>
            </a:solidFill>
            <a:latin typeface="Roboto Slab" pitchFamily="2" charset="0"/>
            <a:ea typeface="Roboto Slab" pitchFamily="2" charset="0"/>
            <a:cs typeface="Roboto Slab" pitchFamily="2" charset="0"/>
          </a:endParaRPr>
        </a:p>
      </dgm:t>
    </dgm:pt>
    <dgm:pt modelId="{07932FF2-540E-4139-AF95-8BA1CFAFCCA3}" type="parTrans" cxnId="{996346C9-08C6-4E9E-8C2D-8084D0193674}">
      <dgm:prSet/>
      <dgm:spPr/>
      <dgm:t>
        <a:bodyPr/>
        <a:lstStyle/>
        <a:p>
          <a:endParaRPr lang="en-AU"/>
        </a:p>
      </dgm:t>
    </dgm:pt>
    <dgm:pt modelId="{A96A3CE1-1053-4877-8E04-25F9889C23DB}" type="sibTrans" cxnId="{996346C9-08C6-4E9E-8C2D-8084D0193674}">
      <dgm:prSet/>
      <dgm:spPr/>
      <dgm:t>
        <a:bodyPr/>
        <a:lstStyle/>
        <a:p>
          <a:endParaRPr lang="en-AU"/>
        </a:p>
      </dgm:t>
    </dgm:pt>
    <dgm:pt modelId="{CE18D240-2556-48FF-9A63-F9F766CCAE6F}">
      <dgm:prSet phldrT="[Text]" phldr="0" custT="1"/>
      <dgm:spPr/>
      <dgm:t>
        <a:bodyPr/>
        <a:lstStyle/>
        <a:p>
          <a:r>
            <a:rPr lang="en-US" sz="1200" b="1" dirty="0">
              <a:solidFill>
                <a:schemeClr val="tx1"/>
              </a:solidFill>
              <a:latin typeface="Roboto Slab" pitchFamily="2" charset="0"/>
              <a:ea typeface="Roboto Slab" pitchFamily="2" charset="0"/>
              <a:cs typeface="Roboto Slab" pitchFamily="2" charset="0"/>
            </a:rPr>
            <a:t>Explainability</a:t>
          </a:r>
          <a:endParaRPr lang="en-AU" sz="1200" b="1" dirty="0">
            <a:solidFill>
              <a:schemeClr val="tx1"/>
            </a:solidFill>
            <a:latin typeface="Roboto Slab" pitchFamily="2" charset="0"/>
            <a:ea typeface="Roboto Slab" pitchFamily="2" charset="0"/>
            <a:cs typeface="Roboto Slab" pitchFamily="2" charset="0"/>
          </a:endParaRPr>
        </a:p>
      </dgm:t>
    </dgm:pt>
    <dgm:pt modelId="{CBBEEBAA-3218-411E-B1DC-19DBD15A088E}" type="parTrans" cxnId="{20CF5D9D-C0E7-4091-A590-BABD62BCF9CF}">
      <dgm:prSet/>
      <dgm:spPr/>
      <dgm:t>
        <a:bodyPr/>
        <a:lstStyle/>
        <a:p>
          <a:endParaRPr lang="en-AU"/>
        </a:p>
      </dgm:t>
    </dgm:pt>
    <dgm:pt modelId="{B5106A7F-C2C0-44F0-B7C5-8EC1B822DE76}" type="sibTrans" cxnId="{20CF5D9D-C0E7-4091-A590-BABD62BCF9CF}">
      <dgm:prSet/>
      <dgm:spPr/>
      <dgm:t>
        <a:bodyPr/>
        <a:lstStyle/>
        <a:p>
          <a:endParaRPr lang="en-AU"/>
        </a:p>
      </dgm:t>
    </dgm:pt>
    <dgm:pt modelId="{CA158F91-C574-4DD3-A3BC-F7B3FEB17E0E}">
      <dgm:prSet phldrT="[Text]" phldr="0" custT="1"/>
      <dgm:spPr/>
      <dgm:t>
        <a:bodyPr/>
        <a:lstStyle/>
        <a:p>
          <a:r>
            <a:rPr lang="en-US" sz="1200" b="1" dirty="0">
              <a:solidFill>
                <a:schemeClr val="tx1"/>
              </a:solidFill>
              <a:latin typeface="Roboto Slab" pitchFamily="2" charset="0"/>
              <a:ea typeface="Roboto Slab" pitchFamily="2" charset="0"/>
              <a:cs typeface="Roboto Slab" pitchFamily="2" charset="0"/>
            </a:rPr>
            <a:t>Compliance</a:t>
          </a:r>
          <a:endParaRPr lang="en-AU" sz="1200" b="1" dirty="0">
            <a:solidFill>
              <a:schemeClr val="tx1"/>
            </a:solidFill>
            <a:latin typeface="Roboto Slab" pitchFamily="2" charset="0"/>
            <a:ea typeface="Roboto Slab" pitchFamily="2" charset="0"/>
            <a:cs typeface="Roboto Slab" pitchFamily="2" charset="0"/>
          </a:endParaRPr>
        </a:p>
      </dgm:t>
    </dgm:pt>
    <dgm:pt modelId="{F967D3B8-B28E-499F-BBAC-09B741DB96C0}" type="parTrans" cxnId="{D23D47A8-9129-4E18-9A8C-602DD2F183AC}">
      <dgm:prSet/>
      <dgm:spPr/>
      <dgm:t>
        <a:bodyPr/>
        <a:lstStyle/>
        <a:p>
          <a:endParaRPr lang="en-AU"/>
        </a:p>
      </dgm:t>
    </dgm:pt>
    <dgm:pt modelId="{D1184C49-5445-46BC-9706-0BA1B48D5CE4}" type="sibTrans" cxnId="{D23D47A8-9129-4E18-9A8C-602DD2F183AC}">
      <dgm:prSet/>
      <dgm:spPr/>
      <dgm:t>
        <a:bodyPr/>
        <a:lstStyle/>
        <a:p>
          <a:endParaRPr lang="en-AU"/>
        </a:p>
      </dgm:t>
    </dgm:pt>
    <dgm:pt modelId="{ADE44F73-B559-42F2-920F-9FC4872B7967}">
      <dgm:prSet phldrT="[Text]" phldr="0" custT="1"/>
      <dgm:spPr/>
      <dgm:t>
        <a:bodyPr/>
        <a:lstStyle/>
        <a:p>
          <a:r>
            <a:rPr lang="en-US" sz="1200" b="1" dirty="0">
              <a:solidFill>
                <a:schemeClr val="tx1"/>
              </a:solidFill>
              <a:latin typeface="Roboto Slab" pitchFamily="2" charset="0"/>
              <a:ea typeface="Roboto Slab" pitchFamily="2" charset="0"/>
              <a:cs typeface="Roboto Slab" pitchFamily="2" charset="0"/>
            </a:rPr>
            <a:t>Oversight</a:t>
          </a:r>
          <a:endParaRPr lang="en-AU" sz="1200" b="1" dirty="0">
            <a:solidFill>
              <a:schemeClr val="tx1"/>
            </a:solidFill>
            <a:latin typeface="Roboto Slab" pitchFamily="2" charset="0"/>
            <a:ea typeface="Roboto Slab" pitchFamily="2" charset="0"/>
            <a:cs typeface="Roboto Slab" pitchFamily="2" charset="0"/>
          </a:endParaRPr>
        </a:p>
      </dgm:t>
    </dgm:pt>
    <dgm:pt modelId="{2F5310B3-EEA9-4274-9FA6-1638BE705702}" type="parTrans" cxnId="{9E0F9535-91E5-4D7E-9DD3-49BDEA824EF3}">
      <dgm:prSet/>
      <dgm:spPr/>
      <dgm:t>
        <a:bodyPr/>
        <a:lstStyle/>
        <a:p>
          <a:endParaRPr lang="en-AU"/>
        </a:p>
      </dgm:t>
    </dgm:pt>
    <dgm:pt modelId="{1BD5E0E5-52D1-4DD3-824D-A553D933E641}" type="sibTrans" cxnId="{9E0F9535-91E5-4D7E-9DD3-49BDEA824EF3}">
      <dgm:prSet/>
      <dgm:spPr/>
      <dgm:t>
        <a:bodyPr/>
        <a:lstStyle/>
        <a:p>
          <a:endParaRPr lang="en-AU"/>
        </a:p>
      </dgm:t>
    </dgm:pt>
    <dgm:pt modelId="{BBD642CD-9F8F-475F-A191-9CAEF9F3F5C0}" type="pres">
      <dgm:prSet presAssocID="{2518F34F-F385-4D2D-A0A2-68FD5ACCA2C9}" presName="matrix" presStyleCnt="0">
        <dgm:presLayoutVars>
          <dgm:chMax val="1"/>
          <dgm:dir/>
          <dgm:resizeHandles val="exact"/>
        </dgm:presLayoutVars>
      </dgm:prSet>
      <dgm:spPr/>
    </dgm:pt>
    <dgm:pt modelId="{A2A20F78-9436-468C-81A2-D963B720640D}" type="pres">
      <dgm:prSet presAssocID="{2518F34F-F385-4D2D-A0A2-68FD5ACCA2C9}" presName="diamond" presStyleLbl="bgShp" presStyleIdx="0" presStyleCnt="1"/>
      <dgm:spPr/>
    </dgm:pt>
    <dgm:pt modelId="{1EAFC633-67D7-4939-8941-A8E37D8518C9}" type="pres">
      <dgm:prSet presAssocID="{2518F34F-F385-4D2D-A0A2-68FD5ACCA2C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8B129DA-52DD-4CA7-83AA-743CC7C22AA2}" type="pres">
      <dgm:prSet presAssocID="{2518F34F-F385-4D2D-A0A2-68FD5ACCA2C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CDF7866-7FA1-40A1-85C2-51D55F71C336}" type="pres">
      <dgm:prSet presAssocID="{2518F34F-F385-4D2D-A0A2-68FD5ACCA2C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B1ECD10-E05A-407F-8560-31AE088FBCD8}" type="pres">
      <dgm:prSet presAssocID="{2518F34F-F385-4D2D-A0A2-68FD5ACCA2C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1C38C405-A436-4D5E-B0F9-8D150D79227D}" type="presOf" srcId="{2518F34F-F385-4D2D-A0A2-68FD5ACCA2C9}" destId="{BBD642CD-9F8F-475F-A191-9CAEF9F3F5C0}" srcOrd="0" destOrd="0" presId="urn:microsoft.com/office/officeart/2005/8/layout/matrix3"/>
    <dgm:cxn modelId="{9E0F9535-91E5-4D7E-9DD3-49BDEA824EF3}" srcId="{2518F34F-F385-4D2D-A0A2-68FD5ACCA2C9}" destId="{ADE44F73-B559-42F2-920F-9FC4872B7967}" srcOrd="3" destOrd="0" parTransId="{2F5310B3-EEA9-4274-9FA6-1638BE705702}" sibTransId="{1BD5E0E5-52D1-4DD3-824D-A553D933E641}"/>
    <dgm:cxn modelId="{80963648-01D5-4D88-9565-5E73DCED5D19}" type="presOf" srcId="{A3DE102B-D4DF-44CD-82C4-2A358D21EC6C}" destId="{1EAFC633-67D7-4939-8941-A8E37D8518C9}" srcOrd="0" destOrd="0" presId="urn:microsoft.com/office/officeart/2005/8/layout/matrix3"/>
    <dgm:cxn modelId="{20CF5D9D-C0E7-4091-A590-BABD62BCF9CF}" srcId="{2518F34F-F385-4D2D-A0A2-68FD5ACCA2C9}" destId="{CE18D240-2556-48FF-9A63-F9F766CCAE6F}" srcOrd="1" destOrd="0" parTransId="{CBBEEBAA-3218-411E-B1DC-19DBD15A088E}" sibTransId="{B5106A7F-C2C0-44F0-B7C5-8EC1B822DE76}"/>
    <dgm:cxn modelId="{D23D47A8-9129-4E18-9A8C-602DD2F183AC}" srcId="{2518F34F-F385-4D2D-A0A2-68FD5ACCA2C9}" destId="{CA158F91-C574-4DD3-A3BC-F7B3FEB17E0E}" srcOrd="2" destOrd="0" parTransId="{F967D3B8-B28E-499F-BBAC-09B741DB96C0}" sibTransId="{D1184C49-5445-46BC-9706-0BA1B48D5CE4}"/>
    <dgm:cxn modelId="{4BC664B5-D956-456E-86F3-05D76DAC1999}" type="presOf" srcId="{CE18D240-2556-48FF-9A63-F9F766CCAE6F}" destId="{58B129DA-52DD-4CA7-83AA-743CC7C22AA2}" srcOrd="0" destOrd="0" presId="urn:microsoft.com/office/officeart/2005/8/layout/matrix3"/>
    <dgm:cxn modelId="{DD371FBD-6E2B-4CF0-956E-FE76BE0FE5B6}" type="presOf" srcId="{CA158F91-C574-4DD3-A3BC-F7B3FEB17E0E}" destId="{DCDF7866-7FA1-40A1-85C2-51D55F71C336}" srcOrd="0" destOrd="0" presId="urn:microsoft.com/office/officeart/2005/8/layout/matrix3"/>
    <dgm:cxn modelId="{111715C0-1837-4228-95CC-CE4FBFF7BCAD}" type="presOf" srcId="{ADE44F73-B559-42F2-920F-9FC4872B7967}" destId="{7B1ECD10-E05A-407F-8560-31AE088FBCD8}" srcOrd="0" destOrd="0" presId="urn:microsoft.com/office/officeart/2005/8/layout/matrix3"/>
    <dgm:cxn modelId="{996346C9-08C6-4E9E-8C2D-8084D0193674}" srcId="{2518F34F-F385-4D2D-A0A2-68FD5ACCA2C9}" destId="{A3DE102B-D4DF-44CD-82C4-2A358D21EC6C}" srcOrd="0" destOrd="0" parTransId="{07932FF2-540E-4139-AF95-8BA1CFAFCCA3}" sibTransId="{A96A3CE1-1053-4877-8E04-25F9889C23DB}"/>
    <dgm:cxn modelId="{1BCE5D43-9F67-4982-9C49-4219F16DC1F9}" type="presParOf" srcId="{BBD642CD-9F8F-475F-A191-9CAEF9F3F5C0}" destId="{A2A20F78-9436-468C-81A2-D963B720640D}" srcOrd="0" destOrd="0" presId="urn:microsoft.com/office/officeart/2005/8/layout/matrix3"/>
    <dgm:cxn modelId="{FEC8726C-55EC-4844-99FA-C9B026E7D75F}" type="presParOf" srcId="{BBD642CD-9F8F-475F-A191-9CAEF9F3F5C0}" destId="{1EAFC633-67D7-4939-8941-A8E37D8518C9}" srcOrd="1" destOrd="0" presId="urn:microsoft.com/office/officeart/2005/8/layout/matrix3"/>
    <dgm:cxn modelId="{E1564D68-C375-4634-A7E7-0B1388B130E1}" type="presParOf" srcId="{BBD642CD-9F8F-475F-A191-9CAEF9F3F5C0}" destId="{58B129DA-52DD-4CA7-83AA-743CC7C22AA2}" srcOrd="2" destOrd="0" presId="urn:microsoft.com/office/officeart/2005/8/layout/matrix3"/>
    <dgm:cxn modelId="{D1DE4EF0-1A47-4A64-BE29-4FD1E0F6C03A}" type="presParOf" srcId="{BBD642CD-9F8F-475F-A191-9CAEF9F3F5C0}" destId="{DCDF7866-7FA1-40A1-85C2-51D55F71C336}" srcOrd="3" destOrd="0" presId="urn:microsoft.com/office/officeart/2005/8/layout/matrix3"/>
    <dgm:cxn modelId="{9EEB62E3-9AF4-4A23-9989-B3EDBF0C56D3}" type="presParOf" srcId="{BBD642CD-9F8F-475F-A191-9CAEF9F3F5C0}" destId="{7B1ECD10-E05A-407F-8560-31AE088FBCD8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13F300-B9AE-4B6B-86A6-812609C3742F}">
      <dsp:nvSpPr>
        <dsp:cNvPr id="0" name=""/>
        <dsp:cNvSpPr/>
      </dsp:nvSpPr>
      <dsp:spPr>
        <a:xfrm>
          <a:off x="3551358" y="90962"/>
          <a:ext cx="1437679" cy="14376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u="none" kern="1200" dirty="0">
              <a:solidFill>
                <a:srgbClr val="54965E"/>
              </a:solidFill>
              <a:latin typeface="Roboto Slab" pitchFamily="2" charset="0"/>
              <a:ea typeface="Roboto Slab" pitchFamily="2" charset="0"/>
              <a:cs typeface="Roboto Slab" pitchFamily="2" charset="0"/>
            </a:rPr>
            <a:t>DECISION</a:t>
          </a:r>
          <a:endParaRPr lang="en-AU" sz="1900" b="1" u="none" kern="1200" dirty="0">
            <a:solidFill>
              <a:srgbClr val="54965E"/>
            </a:solidFill>
            <a:latin typeface="Roboto Slab" pitchFamily="2" charset="0"/>
            <a:ea typeface="Roboto Slab" pitchFamily="2" charset="0"/>
            <a:cs typeface="Roboto Slab" pitchFamily="2" charset="0"/>
          </a:endParaRPr>
        </a:p>
      </dsp:txBody>
      <dsp:txXfrm>
        <a:off x="3551358" y="90962"/>
        <a:ext cx="1437679" cy="1437679"/>
      </dsp:txXfrm>
    </dsp:sp>
    <dsp:sp modelId="{59ECD698-0CA2-4EE0-AEDF-BB0E45186E0E}">
      <dsp:nvSpPr>
        <dsp:cNvPr id="0" name=""/>
        <dsp:cNvSpPr/>
      </dsp:nvSpPr>
      <dsp:spPr>
        <a:xfrm>
          <a:off x="1015841" y="-158"/>
          <a:ext cx="4064317" cy="4064317"/>
        </a:xfrm>
        <a:prstGeom prst="circularArrow">
          <a:avLst>
            <a:gd name="adj1" fmla="val 6898"/>
            <a:gd name="adj2" fmla="val 465012"/>
            <a:gd name="adj3" fmla="val 550847"/>
            <a:gd name="adj4" fmla="val 20584141"/>
            <a:gd name="adj5" fmla="val 8047"/>
          </a:avLst>
        </a:prstGeom>
        <a:gradFill rotWithShape="0">
          <a:gsLst>
            <a:gs pos="0">
              <a:schemeClr val="accent5">
                <a:alpha val="9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alpha val="9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5877CF3-20D5-4B57-9287-0504BD7C4F59}">
      <dsp:nvSpPr>
        <dsp:cNvPr id="0" name=""/>
        <dsp:cNvSpPr/>
      </dsp:nvSpPr>
      <dsp:spPr>
        <a:xfrm>
          <a:off x="3551358" y="2535358"/>
          <a:ext cx="1437679" cy="14376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u="none" kern="1200" dirty="0">
              <a:solidFill>
                <a:srgbClr val="54965E"/>
              </a:solidFill>
              <a:latin typeface="Roboto Slab" pitchFamily="2" charset="0"/>
              <a:ea typeface="Roboto Slab" pitchFamily="2" charset="0"/>
              <a:cs typeface="Roboto Slab" pitchFamily="2" charset="0"/>
            </a:rPr>
            <a:t>ACTIONS</a:t>
          </a:r>
          <a:endParaRPr lang="en-AU" sz="1900" b="1" u="none" kern="1200" dirty="0">
            <a:solidFill>
              <a:srgbClr val="54965E"/>
            </a:solidFill>
            <a:latin typeface="Roboto Slab" pitchFamily="2" charset="0"/>
            <a:ea typeface="Roboto Slab" pitchFamily="2" charset="0"/>
            <a:cs typeface="Roboto Slab" pitchFamily="2" charset="0"/>
          </a:endParaRPr>
        </a:p>
      </dsp:txBody>
      <dsp:txXfrm>
        <a:off x="3551358" y="2535358"/>
        <a:ext cx="1437679" cy="1437679"/>
      </dsp:txXfrm>
    </dsp:sp>
    <dsp:sp modelId="{68C2067B-00FB-44D3-BD5F-DF21A078CF52}">
      <dsp:nvSpPr>
        <dsp:cNvPr id="0" name=""/>
        <dsp:cNvSpPr/>
      </dsp:nvSpPr>
      <dsp:spPr>
        <a:xfrm>
          <a:off x="1015841" y="-158"/>
          <a:ext cx="4064317" cy="4064317"/>
        </a:xfrm>
        <a:prstGeom prst="circularArrow">
          <a:avLst>
            <a:gd name="adj1" fmla="val 6898"/>
            <a:gd name="adj2" fmla="val 465012"/>
            <a:gd name="adj3" fmla="val 5950847"/>
            <a:gd name="adj4" fmla="val 4384141"/>
            <a:gd name="adj5" fmla="val 8047"/>
          </a:avLst>
        </a:prstGeom>
        <a:gradFill rotWithShape="0">
          <a:gsLst>
            <a:gs pos="0">
              <a:schemeClr val="accent5">
                <a:alpha val="90000"/>
                <a:hueOff val="0"/>
                <a:satOff val="0"/>
                <a:lumOff val="0"/>
                <a:alphaOff val="-13333"/>
                <a:tint val="100000"/>
                <a:shade val="100000"/>
                <a:satMod val="130000"/>
              </a:schemeClr>
            </a:gs>
            <a:gs pos="100000">
              <a:schemeClr val="accent5">
                <a:alpha val="90000"/>
                <a:hueOff val="0"/>
                <a:satOff val="0"/>
                <a:lumOff val="0"/>
                <a:alphaOff val="-13333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5E2C8D7-8989-40D4-9D90-5504B5DE09B9}">
      <dsp:nvSpPr>
        <dsp:cNvPr id="0" name=""/>
        <dsp:cNvSpPr/>
      </dsp:nvSpPr>
      <dsp:spPr>
        <a:xfrm>
          <a:off x="1106962" y="2535358"/>
          <a:ext cx="1437679" cy="14376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u="none" kern="1200" dirty="0">
              <a:solidFill>
                <a:srgbClr val="54965E"/>
              </a:solidFill>
              <a:latin typeface="Roboto Slab" pitchFamily="2" charset="0"/>
              <a:ea typeface="Roboto Slab" pitchFamily="2" charset="0"/>
              <a:cs typeface="Roboto Slab" pitchFamily="2" charset="0"/>
            </a:rPr>
            <a:t>LEARNING</a:t>
          </a:r>
          <a:endParaRPr lang="en-AU" sz="1900" b="1" u="none" kern="1200" dirty="0">
            <a:solidFill>
              <a:srgbClr val="54965E"/>
            </a:solidFill>
            <a:latin typeface="Roboto Slab" pitchFamily="2" charset="0"/>
            <a:ea typeface="Roboto Slab" pitchFamily="2" charset="0"/>
            <a:cs typeface="Roboto Slab" pitchFamily="2" charset="0"/>
          </a:endParaRPr>
        </a:p>
      </dsp:txBody>
      <dsp:txXfrm>
        <a:off x="1106962" y="2535358"/>
        <a:ext cx="1437679" cy="1437679"/>
      </dsp:txXfrm>
    </dsp:sp>
    <dsp:sp modelId="{EC9749B0-6FC1-40AC-B27B-BFEA9BA71E87}">
      <dsp:nvSpPr>
        <dsp:cNvPr id="0" name=""/>
        <dsp:cNvSpPr/>
      </dsp:nvSpPr>
      <dsp:spPr>
        <a:xfrm>
          <a:off x="1015841" y="-158"/>
          <a:ext cx="4064317" cy="4064317"/>
        </a:xfrm>
        <a:prstGeom prst="circularArrow">
          <a:avLst>
            <a:gd name="adj1" fmla="val 6898"/>
            <a:gd name="adj2" fmla="val 465012"/>
            <a:gd name="adj3" fmla="val 11350847"/>
            <a:gd name="adj4" fmla="val 9784141"/>
            <a:gd name="adj5" fmla="val 8047"/>
          </a:avLst>
        </a:prstGeom>
        <a:gradFill rotWithShape="0">
          <a:gsLst>
            <a:gs pos="0">
              <a:schemeClr val="accent5">
                <a:alpha val="90000"/>
                <a:hueOff val="0"/>
                <a:satOff val="0"/>
                <a:lumOff val="0"/>
                <a:alphaOff val="-26667"/>
                <a:tint val="100000"/>
                <a:shade val="100000"/>
                <a:satMod val="130000"/>
              </a:schemeClr>
            </a:gs>
            <a:gs pos="100000">
              <a:schemeClr val="accent5">
                <a:alpha val="90000"/>
                <a:hueOff val="0"/>
                <a:satOff val="0"/>
                <a:lumOff val="0"/>
                <a:alphaOff val="-26667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7090802-1177-4044-A1DD-903113133D13}">
      <dsp:nvSpPr>
        <dsp:cNvPr id="0" name=""/>
        <dsp:cNvSpPr/>
      </dsp:nvSpPr>
      <dsp:spPr>
        <a:xfrm>
          <a:off x="1106962" y="90962"/>
          <a:ext cx="1437679" cy="14376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u="none" kern="1200" dirty="0">
              <a:solidFill>
                <a:srgbClr val="54965E"/>
              </a:solidFill>
              <a:latin typeface="Roboto Slab" pitchFamily="2" charset="0"/>
              <a:ea typeface="Roboto Slab" pitchFamily="2" charset="0"/>
              <a:cs typeface="Roboto Slab" pitchFamily="2" charset="0"/>
            </a:rPr>
            <a:t>INPUT</a:t>
          </a:r>
          <a:endParaRPr lang="en-AU" sz="1900" b="1" u="none" kern="1200" dirty="0">
            <a:solidFill>
              <a:srgbClr val="54965E"/>
            </a:solidFill>
            <a:latin typeface="Roboto Slab" pitchFamily="2" charset="0"/>
            <a:ea typeface="Roboto Slab" pitchFamily="2" charset="0"/>
            <a:cs typeface="Roboto Slab" pitchFamily="2" charset="0"/>
          </a:endParaRPr>
        </a:p>
      </dsp:txBody>
      <dsp:txXfrm>
        <a:off x="1106962" y="90962"/>
        <a:ext cx="1437679" cy="1437679"/>
      </dsp:txXfrm>
    </dsp:sp>
    <dsp:sp modelId="{7E7C8CFC-152F-45CA-B331-E18BD428D7B2}">
      <dsp:nvSpPr>
        <dsp:cNvPr id="0" name=""/>
        <dsp:cNvSpPr/>
      </dsp:nvSpPr>
      <dsp:spPr>
        <a:xfrm>
          <a:off x="1015841" y="-158"/>
          <a:ext cx="4064317" cy="4064317"/>
        </a:xfrm>
        <a:prstGeom prst="circularArrow">
          <a:avLst>
            <a:gd name="adj1" fmla="val 6898"/>
            <a:gd name="adj2" fmla="val 465012"/>
            <a:gd name="adj3" fmla="val 16750847"/>
            <a:gd name="adj4" fmla="val 15184141"/>
            <a:gd name="adj5" fmla="val 8047"/>
          </a:avLst>
        </a:prstGeom>
        <a:gradFill rotWithShape="0">
          <a:gsLst>
            <a:gs pos="0">
              <a:schemeClr val="accent5">
                <a:alpha val="90000"/>
                <a:hueOff val="0"/>
                <a:satOff val="0"/>
                <a:lumOff val="0"/>
                <a:alphaOff val="-40000"/>
                <a:tint val="100000"/>
                <a:shade val="100000"/>
                <a:satMod val="130000"/>
              </a:schemeClr>
            </a:gs>
            <a:gs pos="100000">
              <a:schemeClr val="accent5">
                <a:alpha val="90000"/>
                <a:hueOff val="0"/>
                <a:satOff val="0"/>
                <a:lumOff val="0"/>
                <a:alphaOff val="-4000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A20F78-9436-468C-81A2-D963B720640D}">
      <dsp:nvSpPr>
        <dsp:cNvPr id="0" name=""/>
        <dsp:cNvSpPr/>
      </dsp:nvSpPr>
      <dsp:spPr>
        <a:xfrm>
          <a:off x="958683" y="0"/>
          <a:ext cx="3593097" cy="3593097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AFC633-67D7-4939-8941-A8E37D8518C9}">
      <dsp:nvSpPr>
        <dsp:cNvPr id="0" name=""/>
        <dsp:cNvSpPr/>
      </dsp:nvSpPr>
      <dsp:spPr>
        <a:xfrm>
          <a:off x="1300027" y="341344"/>
          <a:ext cx="1401307" cy="140130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tx1"/>
              </a:solidFill>
              <a:latin typeface="Roboto Slab" pitchFamily="2" charset="0"/>
              <a:ea typeface="Roboto Slab" pitchFamily="2" charset="0"/>
              <a:cs typeface="Roboto Slab" pitchFamily="2" charset="0"/>
            </a:rPr>
            <a:t>Fairness</a:t>
          </a:r>
          <a:endParaRPr lang="en-AU" sz="1200" b="1" kern="1200" dirty="0">
            <a:solidFill>
              <a:schemeClr val="tx1"/>
            </a:solidFill>
            <a:latin typeface="Roboto Slab" pitchFamily="2" charset="0"/>
            <a:ea typeface="Roboto Slab" pitchFamily="2" charset="0"/>
            <a:cs typeface="Roboto Slab" pitchFamily="2" charset="0"/>
          </a:endParaRPr>
        </a:p>
      </dsp:txBody>
      <dsp:txXfrm>
        <a:off x="1368433" y="409750"/>
        <a:ext cx="1264495" cy="1264495"/>
      </dsp:txXfrm>
    </dsp:sp>
    <dsp:sp modelId="{58B129DA-52DD-4CA7-83AA-743CC7C22AA2}">
      <dsp:nvSpPr>
        <dsp:cNvPr id="0" name=""/>
        <dsp:cNvSpPr/>
      </dsp:nvSpPr>
      <dsp:spPr>
        <a:xfrm>
          <a:off x="2809127" y="341344"/>
          <a:ext cx="1401307" cy="1401307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tx1"/>
              </a:solidFill>
              <a:latin typeface="Roboto Slab" pitchFamily="2" charset="0"/>
              <a:ea typeface="Roboto Slab" pitchFamily="2" charset="0"/>
              <a:cs typeface="Roboto Slab" pitchFamily="2" charset="0"/>
            </a:rPr>
            <a:t>Explainability</a:t>
          </a:r>
          <a:endParaRPr lang="en-AU" sz="1200" b="1" kern="1200" dirty="0">
            <a:solidFill>
              <a:schemeClr val="tx1"/>
            </a:solidFill>
            <a:latin typeface="Roboto Slab" pitchFamily="2" charset="0"/>
            <a:ea typeface="Roboto Slab" pitchFamily="2" charset="0"/>
            <a:cs typeface="Roboto Slab" pitchFamily="2" charset="0"/>
          </a:endParaRPr>
        </a:p>
      </dsp:txBody>
      <dsp:txXfrm>
        <a:off x="2877533" y="409750"/>
        <a:ext cx="1264495" cy="1264495"/>
      </dsp:txXfrm>
    </dsp:sp>
    <dsp:sp modelId="{DCDF7866-7FA1-40A1-85C2-51D55F71C336}">
      <dsp:nvSpPr>
        <dsp:cNvPr id="0" name=""/>
        <dsp:cNvSpPr/>
      </dsp:nvSpPr>
      <dsp:spPr>
        <a:xfrm>
          <a:off x="1300027" y="1850444"/>
          <a:ext cx="1401307" cy="1401307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tx1"/>
              </a:solidFill>
              <a:latin typeface="Roboto Slab" pitchFamily="2" charset="0"/>
              <a:ea typeface="Roboto Slab" pitchFamily="2" charset="0"/>
              <a:cs typeface="Roboto Slab" pitchFamily="2" charset="0"/>
            </a:rPr>
            <a:t>Compliance</a:t>
          </a:r>
          <a:endParaRPr lang="en-AU" sz="1200" b="1" kern="1200" dirty="0">
            <a:solidFill>
              <a:schemeClr val="tx1"/>
            </a:solidFill>
            <a:latin typeface="Roboto Slab" pitchFamily="2" charset="0"/>
            <a:ea typeface="Roboto Slab" pitchFamily="2" charset="0"/>
            <a:cs typeface="Roboto Slab" pitchFamily="2" charset="0"/>
          </a:endParaRPr>
        </a:p>
      </dsp:txBody>
      <dsp:txXfrm>
        <a:off x="1368433" y="1918850"/>
        <a:ext cx="1264495" cy="1264495"/>
      </dsp:txXfrm>
    </dsp:sp>
    <dsp:sp modelId="{7B1ECD10-E05A-407F-8560-31AE088FBCD8}">
      <dsp:nvSpPr>
        <dsp:cNvPr id="0" name=""/>
        <dsp:cNvSpPr/>
      </dsp:nvSpPr>
      <dsp:spPr>
        <a:xfrm>
          <a:off x="2809127" y="1850444"/>
          <a:ext cx="1401307" cy="140130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tx1"/>
              </a:solidFill>
              <a:latin typeface="Roboto Slab" pitchFamily="2" charset="0"/>
              <a:ea typeface="Roboto Slab" pitchFamily="2" charset="0"/>
              <a:cs typeface="Roboto Slab" pitchFamily="2" charset="0"/>
            </a:rPr>
            <a:t>Oversight</a:t>
          </a:r>
          <a:endParaRPr lang="en-AU" sz="1200" b="1" kern="1200" dirty="0">
            <a:solidFill>
              <a:schemeClr val="tx1"/>
            </a:solidFill>
            <a:latin typeface="Roboto Slab" pitchFamily="2" charset="0"/>
            <a:ea typeface="Roboto Slab" pitchFamily="2" charset="0"/>
            <a:cs typeface="Roboto Slab" pitchFamily="2" charset="0"/>
          </a:endParaRPr>
        </a:p>
      </dsp:txBody>
      <dsp:txXfrm>
        <a:off x="2877533" y="1918850"/>
        <a:ext cx="1264495" cy="12644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en-GB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en-GB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en-GB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902445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5BA59-FD78-317B-F0EA-B3C017AF6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4EA8FA-81B1-D5DF-2EE9-EBBF0D5CE2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C1A375-4F4F-A247-5875-E4231061C0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58872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8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6.png"/><Relationship Id="rId5" Type="http://schemas.openxmlformats.org/officeDocument/2006/relationships/diagramQuickStyle" Target="../diagrams/quickStyle1.xml"/><Relationship Id="rId15" Type="http://schemas.openxmlformats.org/officeDocument/2006/relationships/image" Target="../media/image10.png"/><Relationship Id="rId10" Type="http://schemas.openxmlformats.org/officeDocument/2006/relationships/image" Target="../media/image5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4.png"/><Relationship Id="rId1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Leveraging Agentic AI for Scalable, Fair, and Effective Debt Management at Geldium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C4070C-7D72-C563-1E33-D0284CC88B31}"/>
              </a:ext>
            </a:extLst>
          </p:cNvPr>
          <p:cNvSpPr/>
          <p:nvPr/>
        </p:nvSpPr>
        <p:spPr>
          <a:xfrm>
            <a:off x="0" y="4586287"/>
            <a:ext cx="9144000" cy="557211"/>
          </a:xfrm>
          <a:prstGeom prst="rect">
            <a:avLst/>
          </a:prstGeom>
          <a:solidFill>
            <a:srgbClr val="5496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8624063-3429-226C-C814-58AA2BE3B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0302" y="4663735"/>
            <a:ext cx="435613" cy="400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tudent sign in | Forage">
            <a:extLst>
              <a:ext uri="{FF2B5EF4-FFF2-40B4-BE49-F238E27FC236}">
                <a16:creationId xmlns:a16="http://schemas.microsoft.com/office/drawing/2014/main" id="{4ABCC071-A0C9-ACA9-62CA-C1820A30F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8227" y="4750328"/>
            <a:ext cx="1045471" cy="313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63;p13">
            <a:extLst>
              <a:ext uri="{FF2B5EF4-FFF2-40B4-BE49-F238E27FC236}">
                <a16:creationId xmlns:a16="http://schemas.microsoft.com/office/drawing/2014/main" id="{EAA44C72-0F50-7F88-0AC4-AE3DF8E78213}"/>
              </a:ext>
            </a:extLst>
          </p:cNvPr>
          <p:cNvSpPr txBox="1">
            <a:spLocks/>
          </p:cNvSpPr>
          <p:nvPr/>
        </p:nvSpPr>
        <p:spPr>
          <a:xfrm>
            <a:off x="1575527" y="4035898"/>
            <a:ext cx="5783400" cy="470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AU" sz="1000" dirty="0"/>
              <a:t>Luis Faria, December 2025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244531-B62F-6B8B-ED1C-0F5E29656606}"/>
              </a:ext>
            </a:extLst>
          </p:cNvPr>
          <p:cNvSpPr/>
          <p:nvPr/>
        </p:nvSpPr>
        <p:spPr>
          <a:xfrm>
            <a:off x="0" y="0"/>
            <a:ext cx="136358" cy="4586287"/>
          </a:xfrm>
          <a:prstGeom prst="rect">
            <a:avLst/>
          </a:prstGeom>
          <a:solidFill>
            <a:srgbClr val="5496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3DB7944-C334-4BA4-3E9D-5BA05C67E4EB}"/>
              </a:ext>
            </a:extLst>
          </p:cNvPr>
          <p:cNvSpPr/>
          <p:nvPr/>
        </p:nvSpPr>
        <p:spPr>
          <a:xfrm>
            <a:off x="390069" y="1379772"/>
            <a:ext cx="3643293" cy="1700685"/>
          </a:xfrm>
          <a:prstGeom prst="rect">
            <a:avLst/>
          </a:prstGeom>
          <a:noFill/>
          <a:ln w="3175">
            <a:solidFill>
              <a:srgbClr val="5496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90F49D-F3F2-95A9-C256-FA3A2C56B5C3}"/>
              </a:ext>
            </a:extLst>
          </p:cNvPr>
          <p:cNvSpPr/>
          <p:nvPr/>
        </p:nvSpPr>
        <p:spPr>
          <a:xfrm>
            <a:off x="5165124" y="1379772"/>
            <a:ext cx="3644954" cy="1700685"/>
          </a:xfrm>
          <a:prstGeom prst="rect">
            <a:avLst/>
          </a:prstGeom>
          <a:noFill/>
          <a:ln w="3175">
            <a:solidFill>
              <a:srgbClr val="5496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E3116D-75FA-17C9-EC72-460C035433F4}"/>
              </a:ext>
            </a:extLst>
          </p:cNvPr>
          <p:cNvSpPr/>
          <p:nvPr/>
        </p:nvSpPr>
        <p:spPr>
          <a:xfrm>
            <a:off x="387900" y="3198281"/>
            <a:ext cx="3643293" cy="1700685"/>
          </a:xfrm>
          <a:prstGeom prst="rect">
            <a:avLst/>
          </a:prstGeom>
          <a:noFill/>
          <a:ln w="3175">
            <a:solidFill>
              <a:srgbClr val="5496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0344ED-E9B2-C1D4-36C3-1596AA40E629}"/>
              </a:ext>
            </a:extLst>
          </p:cNvPr>
          <p:cNvSpPr/>
          <p:nvPr/>
        </p:nvSpPr>
        <p:spPr>
          <a:xfrm>
            <a:off x="5162955" y="3198281"/>
            <a:ext cx="3644954" cy="1700685"/>
          </a:xfrm>
          <a:prstGeom prst="rect">
            <a:avLst/>
          </a:prstGeom>
          <a:noFill/>
          <a:ln w="3175">
            <a:solidFill>
              <a:srgbClr val="5496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the System Works</a:t>
            </a:r>
            <a:endParaRPr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EBCD5345-C271-C45F-2E9D-45BCC11F6C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963773"/>
              </p:ext>
            </p:extLst>
          </p:nvPr>
        </p:nvGraphicFramePr>
        <p:xfrm>
          <a:off x="1546693" y="996151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0388968-58F8-D348-1AF4-5159B26D008D}"/>
              </a:ext>
            </a:extLst>
          </p:cNvPr>
          <p:cNvSpPr txBox="1"/>
          <p:nvPr/>
        </p:nvSpPr>
        <p:spPr>
          <a:xfrm>
            <a:off x="743442" y="1791532"/>
            <a:ext cx="1416041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US" sz="1000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Utilization</a:t>
            </a:r>
          </a:p>
          <a:p>
            <a:pPr>
              <a:buClr>
                <a:schemeClr val="tx1"/>
              </a:buClr>
            </a:pPr>
            <a:r>
              <a:rPr lang="en-US" sz="1000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Missed payments</a:t>
            </a:r>
          </a:p>
          <a:p>
            <a:pPr>
              <a:buClr>
                <a:schemeClr val="tx1"/>
              </a:buClr>
            </a:pPr>
            <a:r>
              <a:rPr lang="en-US" sz="1000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DTI</a:t>
            </a:r>
          </a:p>
          <a:p>
            <a:pPr>
              <a:buClr>
                <a:schemeClr val="tx1"/>
              </a:buClr>
            </a:pPr>
            <a:r>
              <a:rPr lang="en-US" sz="1000" dirty="0" err="1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Ternure</a:t>
            </a:r>
            <a:endParaRPr lang="en-US" sz="1000" dirty="0">
              <a:solidFill>
                <a:schemeClr val="tx1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>
              <a:buClr>
                <a:schemeClr val="tx1"/>
              </a:buClr>
            </a:pPr>
            <a:r>
              <a:rPr lang="en-US" sz="1000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Credit scor</a:t>
            </a:r>
            <a:r>
              <a:rPr lang="en-US" sz="1100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e</a:t>
            </a:r>
            <a:endParaRPr lang="en-AU" sz="1100" dirty="0">
              <a:solidFill>
                <a:schemeClr val="tx1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A734AD-4CCA-2744-AC58-1F42ABB7881C}"/>
              </a:ext>
            </a:extLst>
          </p:cNvPr>
          <p:cNvSpPr txBox="1"/>
          <p:nvPr/>
        </p:nvSpPr>
        <p:spPr>
          <a:xfrm>
            <a:off x="7182997" y="1854379"/>
            <a:ext cx="141604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US" sz="1000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          Logistic Model</a:t>
            </a:r>
          </a:p>
          <a:p>
            <a:pPr>
              <a:buClr>
                <a:schemeClr val="tx1"/>
              </a:buClr>
            </a:pPr>
            <a:r>
              <a:rPr lang="en-US" sz="1000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         + Rules</a:t>
            </a:r>
          </a:p>
          <a:p>
            <a:pPr>
              <a:buClr>
                <a:schemeClr val="tx1"/>
              </a:buClr>
            </a:pPr>
            <a:endParaRPr lang="en-US" sz="1000" dirty="0">
              <a:solidFill>
                <a:schemeClr val="tx1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>
              <a:buClr>
                <a:schemeClr val="tx1"/>
              </a:buClr>
            </a:pPr>
            <a:r>
              <a:rPr lang="en-US" sz="1000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Risk Tier (Low/Med/High)</a:t>
            </a:r>
            <a:endParaRPr lang="en-AU" sz="1100" dirty="0">
              <a:solidFill>
                <a:schemeClr val="tx1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904A6B7B-D007-DF1E-0DB8-194545DF4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2997" y="1887331"/>
            <a:ext cx="336088" cy="336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550BDE2-6304-8179-1BDA-8079920A626B}"/>
              </a:ext>
            </a:extLst>
          </p:cNvPr>
          <p:cNvSpPr txBox="1"/>
          <p:nvPr/>
        </p:nvSpPr>
        <p:spPr>
          <a:xfrm>
            <a:off x="6718028" y="3970496"/>
            <a:ext cx="20380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US" sz="1000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          </a:t>
            </a:r>
          </a:p>
          <a:p>
            <a:pPr>
              <a:buClr>
                <a:schemeClr val="tx1"/>
              </a:buClr>
            </a:pPr>
            <a:endParaRPr lang="en-US" sz="1000" dirty="0">
              <a:solidFill>
                <a:schemeClr val="tx1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>
              <a:buClr>
                <a:schemeClr val="tx1"/>
              </a:buClr>
            </a:pPr>
            <a:r>
              <a:rPr lang="en-US" sz="1000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Cadence/Channel by Tier</a:t>
            </a:r>
          </a:p>
          <a:p>
            <a:pPr>
              <a:buClr>
                <a:schemeClr val="tx1"/>
              </a:buClr>
            </a:pPr>
            <a:r>
              <a:rPr lang="en-US" sz="1000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(Email/SMS/Agent + Offers)</a:t>
            </a:r>
            <a:endParaRPr lang="en-AU" sz="1100" dirty="0">
              <a:solidFill>
                <a:schemeClr val="tx1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pic>
        <p:nvPicPr>
          <p:cNvPr id="2054" name="Picture 6" descr="Chat - Free communications icons">
            <a:extLst>
              <a:ext uri="{FF2B5EF4-FFF2-40B4-BE49-F238E27FC236}">
                <a16:creationId xmlns:a16="http://schemas.microsoft.com/office/drawing/2014/main" id="{C5B6FB94-892D-40CA-95C3-FDE524569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8632" y="3762085"/>
            <a:ext cx="244606" cy="244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Message message Vector Icons free download in SVG, PNG Format">
            <a:extLst>
              <a:ext uri="{FF2B5EF4-FFF2-40B4-BE49-F238E27FC236}">
                <a16:creationId xmlns:a16="http://schemas.microsoft.com/office/drawing/2014/main" id="{16ABFECC-C9C2-9771-95A3-504AF5B40E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0517" y="3555431"/>
            <a:ext cx="194481" cy="194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2166E681-115A-0936-FBA5-5BB4EAF49396}"/>
              </a:ext>
            </a:extLst>
          </p:cNvPr>
          <p:cNvPicPr>
            <a:picLocks noChangeAspect="1"/>
          </p:cNvPicPr>
          <p:nvPr/>
        </p:nvPicPr>
        <p:blipFill>
          <a:blip r:embed="rId11">
            <a:lum bright="70000" contrast="-70000"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10517" y="3749912"/>
            <a:ext cx="390041" cy="390041"/>
          </a:xfrm>
          <a:prstGeom prst="rect">
            <a:avLst/>
          </a:prstGeom>
        </p:spPr>
      </p:pic>
      <p:pic>
        <p:nvPicPr>
          <p:cNvPr id="2078" name="Picture 30" descr="Email - Free multimedia icons">
            <a:extLst>
              <a:ext uri="{FF2B5EF4-FFF2-40B4-BE49-F238E27FC236}">
                <a16:creationId xmlns:a16="http://schemas.microsoft.com/office/drawing/2014/main" id="{A2AF5234-DA71-22AB-CB07-9A944A521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8588" y="3793642"/>
            <a:ext cx="353707" cy="353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FCF5C11B-D1FF-2B48-4E5E-1AFCE92A0F87}"/>
              </a:ext>
            </a:extLst>
          </p:cNvPr>
          <p:cNvCxnSpPr>
            <a:endCxn id="2056" idx="1"/>
          </p:cNvCxnSpPr>
          <p:nvPr/>
        </p:nvCxnSpPr>
        <p:spPr>
          <a:xfrm flipV="1">
            <a:off x="7105441" y="3652672"/>
            <a:ext cx="905076" cy="109413"/>
          </a:xfrm>
          <a:prstGeom prst="bentConnector3">
            <a:avLst>
              <a:gd name="adj1" fmla="val 85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" name="TextBox 2047">
            <a:extLst>
              <a:ext uri="{FF2B5EF4-FFF2-40B4-BE49-F238E27FC236}">
                <a16:creationId xmlns:a16="http://schemas.microsoft.com/office/drawing/2014/main" id="{08B40EEE-590C-5ED1-7C6B-D1A942AE5D43}"/>
              </a:ext>
            </a:extLst>
          </p:cNvPr>
          <p:cNvSpPr txBox="1"/>
          <p:nvPr/>
        </p:nvSpPr>
        <p:spPr>
          <a:xfrm>
            <a:off x="743442" y="4011258"/>
            <a:ext cx="2182655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US" sz="1050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Weekly Outcomes</a:t>
            </a:r>
          </a:p>
          <a:p>
            <a:pPr>
              <a:buClr>
                <a:schemeClr val="tx1"/>
              </a:buClr>
            </a:pPr>
            <a:r>
              <a:rPr lang="en-US" sz="1050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Quarterly Retrains</a:t>
            </a:r>
          </a:p>
          <a:p>
            <a:pPr>
              <a:buClr>
                <a:schemeClr val="tx1"/>
              </a:buClr>
            </a:pPr>
            <a:r>
              <a:rPr lang="en-US" sz="1050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A/B Winners</a:t>
            </a:r>
            <a:r>
              <a:rPr lang="en-AU" sz="1050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Auto-Promoted</a:t>
            </a:r>
            <a:endParaRPr lang="en-US" sz="1050" dirty="0">
              <a:solidFill>
                <a:schemeClr val="tx1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cxnSp>
        <p:nvCxnSpPr>
          <p:cNvPr id="2050" name="Straight Arrow Connector 2049">
            <a:extLst>
              <a:ext uri="{FF2B5EF4-FFF2-40B4-BE49-F238E27FC236}">
                <a16:creationId xmlns:a16="http://schemas.microsoft.com/office/drawing/2014/main" id="{B2084C20-657A-DB59-D0FC-773E4049B43A}"/>
              </a:ext>
            </a:extLst>
          </p:cNvPr>
          <p:cNvCxnSpPr>
            <a:cxnSpLocks/>
          </p:cNvCxnSpPr>
          <p:nvPr/>
        </p:nvCxnSpPr>
        <p:spPr>
          <a:xfrm>
            <a:off x="2169262" y="2095601"/>
            <a:ext cx="2888771" cy="44693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51" name="Straight Arrow Connector 2050">
            <a:extLst>
              <a:ext uri="{FF2B5EF4-FFF2-40B4-BE49-F238E27FC236}">
                <a16:creationId xmlns:a16="http://schemas.microsoft.com/office/drawing/2014/main" id="{FC65C92C-527A-84F5-40C7-E2EC0FE674B8}"/>
              </a:ext>
            </a:extLst>
          </p:cNvPr>
          <p:cNvCxnSpPr>
            <a:cxnSpLocks/>
          </p:cNvCxnSpPr>
          <p:nvPr/>
        </p:nvCxnSpPr>
        <p:spPr>
          <a:xfrm>
            <a:off x="2169262" y="2230113"/>
            <a:ext cx="2838800" cy="1041748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55" name="Straight Arrow Connector 2054">
            <a:extLst>
              <a:ext uri="{FF2B5EF4-FFF2-40B4-BE49-F238E27FC236}">
                <a16:creationId xmlns:a16="http://schemas.microsoft.com/office/drawing/2014/main" id="{599A834B-AB68-54DF-A132-BD9C928C6600}"/>
              </a:ext>
            </a:extLst>
          </p:cNvPr>
          <p:cNvCxnSpPr>
            <a:cxnSpLocks/>
          </p:cNvCxnSpPr>
          <p:nvPr/>
        </p:nvCxnSpPr>
        <p:spPr>
          <a:xfrm>
            <a:off x="2159483" y="2371475"/>
            <a:ext cx="353373" cy="792107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82" name="Picture 34" descr="Calendar icon free vector png - Pixsector">
            <a:extLst>
              <a:ext uri="{FF2B5EF4-FFF2-40B4-BE49-F238E27FC236}">
                <a16:creationId xmlns:a16="http://schemas.microsoft.com/office/drawing/2014/main" id="{B8A2D6F9-B615-0A72-8F27-72E0471AD3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3464" y="3530949"/>
            <a:ext cx="609004" cy="609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0" name="Picture 2069" descr="A graph with a line graph&#10;&#10;AI-generated content may be incorrect.">
            <a:extLst>
              <a:ext uri="{FF2B5EF4-FFF2-40B4-BE49-F238E27FC236}">
                <a16:creationId xmlns:a16="http://schemas.microsoft.com/office/drawing/2014/main" id="{2C0BE692-A1B0-5A1D-EE7A-280693A8844B}"/>
              </a:ext>
            </a:extLst>
          </p:cNvPr>
          <p:cNvPicPr>
            <a:picLocks noChangeAspect="1"/>
          </p:cNvPicPr>
          <p:nvPr/>
        </p:nvPicPr>
        <p:blipFill>
          <a:blip r:embed="rId15">
            <a:lum bright="70000" contrast="-70000"/>
          </a:blip>
          <a:stretch>
            <a:fillRect/>
          </a:stretch>
        </p:blipFill>
        <p:spPr>
          <a:xfrm>
            <a:off x="951400" y="3354127"/>
            <a:ext cx="693008" cy="693008"/>
          </a:xfrm>
          <a:prstGeom prst="rect">
            <a:avLst/>
          </a:prstGeom>
        </p:spPr>
      </p:pic>
      <p:sp>
        <p:nvSpPr>
          <p:cNvPr id="2071" name="Rectangle 2070">
            <a:extLst>
              <a:ext uri="{FF2B5EF4-FFF2-40B4-BE49-F238E27FC236}">
                <a16:creationId xmlns:a16="http://schemas.microsoft.com/office/drawing/2014/main" id="{454AA961-E122-2349-3C6F-6D2AA40A030D}"/>
              </a:ext>
            </a:extLst>
          </p:cNvPr>
          <p:cNvSpPr/>
          <p:nvPr/>
        </p:nvSpPr>
        <p:spPr>
          <a:xfrm>
            <a:off x="0" y="0"/>
            <a:ext cx="127771" cy="5143500"/>
          </a:xfrm>
          <a:prstGeom prst="rect">
            <a:avLst/>
          </a:prstGeom>
          <a:solidFill>
            <a:srgbClr val="5496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41B6FCE-9C48-3283-16F7-9F1EAECBF356}"/>
              </a:ext>
            </a:extLst>
          </p:cNvPr>
          <p:cNvSpPr/>
          <p:nvPr/>
        </p:nvSpPr>
        <p:spPr>
          <a:xfrm>
            <a:off x="387900" y="2227232"/>
            <a:ext cx="4026446" cy="1997926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BFBEAAE-1B7D-49EA-1C31-C222968801E0}"/>
              </a:ext>
            </a:extLst>
          </p:cNvPr>
          <p:cNvSpPr/>
          <p:nvPr/>
        </p:nvSpPr>
        <p:spPr>
          <a:xfrm>
            <a:off x="4729655" y="2227233"/>
            <a:ext cx="4080424" cy="199792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Role of Agentic AI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DB9D61-5282-1885-27F0-B6F41B1C7966}"/>
              </a:ext>
            </a:extLst>
          </p:cNvPr>
          <p:cNvSpPr/>
          <p:nvPr/>
        </p:nvSpPr>
        <p:spPr>
          <a:xfrm>
            <a:off x="0" y="0"/>
            <a:ext cx="127771" cy="5143500"/>
          </a:xfrm>
          <a:prstGeom prst="rect">
            <a:avLst/>
          </a:prstGeom>
          <a:solidFill>
            <a:srgbClr val="5496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AB3A84-D3D2-EB18-A98F-2076AB0D4B04}"/>
              </a:ext>
            </a:extLst>
          </p:cNvPr>
          <p:cNvSpPr/>
          <p:nvPr/>
        </p:nvSpPr>
        <p:spPr>
          <a:xfrm>
            <a:off x="390069" y="1379772"/>
            <a:ext cx="4024277" cy="2845387"/>
          </a:xfrm>
          <a:prstGeom prst="rect">
            <a:avLst/>
          </a:prstGeom>
          <a:noFill/>
          <a:ln w="3175">
            <a:solidFill>
              <a:srgbClr val="039B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DB6147-B855-40C4-A801-A58864ABB739}"/>
              </a:ext>
            </a:extLst>
          </p:cNvPr>
          <p:cNvSpPr txBox="1"/>
          <p:nvPr/>
        </p:nvSpPr>
        <p:spPr>
          <a:xfrm>
            <a:off x="761990" y="2411858"/>
            <a:ext cx="295460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39BE5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Reminders</a:t>
            </a: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39BE5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Timing optimization</a:t>
            </a: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39BE5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Self-service routing</a:t>
            </a: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39BE5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A/B Tests</a:t>
            </a: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39BE5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Logging</a:t>
            </a:r>
            <a:endParaRPr lang="en-AU" sz="2000" dirty="0">
              <a:solidFill>
                <a:srgbClr val="039BE5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32F02B-B8B1-2614-8ADA-46CE0EDEBAE7}"/>
              </a:ext>
            </a:extLst>
          </p:cNvPr>
          <p:cNvSpPr/>
          <p:nvPr/>
        </p:nvSpPr>
        <p:spPr>
          <a:xfrm>
            <a:off x="4729655" y="1379772"/>
            <a:ext cx="4080423" cy="2845387"/>
          </a:xfrm>
          <a:prstGeom prst="rect">
            <a:avLst/>
          </a:prstGeom>
          <a:noFill/>
          <a:ln w="3175">
            <a:solidFill>
              <a:srgbClr val="5496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432F18-CAE7-3FE5-889C-2602ABB73818}"/>
              </a:ext>
            </a:extLst>
          </p:cNvPr>
          <p:cNvSpPr txBox="1"/>
          <p:nvPr/>
        </p:nvSpPr>
        <p:spPr>
          <a:xfrm>
            <a:off x="387900" y="1437589"/>
            <a:ext cx="40264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US" sz="3000" b="1" dirty="0">
                <a:solidFill>
                  <a:srgbClr val="039BE5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AI</a:t>
            </a:r>
            <a:endParaRPr lang="en-AU" sz="3000" b="1" dirty="0">
              <a:solidFill>
                <a:srgbClr val="039BE5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D7DE3D-CABF-A9EA-89C6-C421386FD618}"/>
              </a:ext>
            </a:extLst>
          </p:cNvPr>
          <p:cNvSpPr txBox="1"/>
          <p:nvPr/>
        </p:nvSpPr>
        <p:spPr>
          <a:xfrm>
            <a:off x="4729656" y="1379770"/>
            <a:ext cx="408042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US" sz="3000" b="1" dirty="0">
                <a:solidFill>
                  <a:srgbClr val="54965E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HUMAN</a:t>
            </a:r>
            <a:endParaRPr lang="en-AU" sz="3000" b="1" dirty="0">
              <a:solidFill>
                <a:srgbClr val="54965E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BEF2E9-7C68-C0F9-1700-5C8865AC0973}"/>
              </a:ext>
            </a:extLst>
          </p:cNvPr>
          <p:cNvSpPr txBox="1"/>
          <p:nvPr/>
        </p:nvSpPr>
        <p:spPr>
          <a:xfrm>
            <a:off x="5101577" y="2417366"/>
            <a:ext cx="295460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Tx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4965E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Hardship approvals</a:t>
            </a:r>
          </a:p>
          <a:p>
            <a:pPr marL="171450" indent="-171450">
              <a:buClrTx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4965E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Limit changes</a:t>
            </a:r>
          </a:p>
          <a:p>
            <a:pPr marL="171450" indent="-171450">
              <a:buClrTx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4965E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Disputes</a:t>
            </a:r>
          </a:p>
          <a:p>
            <a:pPr marL="171450" indent="-171450">
              <a:buClrTx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4965E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Edge-case overrides</a:t>
            </a:r>
          </a:p>
          <a:p>
            <a:pPr marL="171450" indent="-171450">
              <a:buClrTx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4965E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Regulatory sign-off</a:t>
            </a:r>
            <a:endParaRPr lang="en-AU" sz="2000" dirty="0">
              <a:solidFill>
                <a:srgbClr val="54965E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2E5318E-7811-9EF8-9619-528BA7C89D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229" y="2253279"/>
            <a:ext cx="448817" cy="153880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B036F59-A45A-7465-B801-527A7BF47F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6180" y="2227234"/>
            <a:ext cx="462027" cy="15908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Responsible AI Guardrails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21DA5F-0131-533A-1814-1EEF5E4D5C21}"/>
              </a:ext>
            </a:extLst>
          </p:cNvPr>
          <p:cNvSpPr/>
          <p:nvPr/>
        </p:nvSpPr>
        <p:spPr>
          <a:xfrm>
            <a:off x="0" y="0"/>
            <a:ext cx="127771" cy="5143500"/>
          </a:xfrm>
          <a:prstGeom prst="rect">
            <a:avLst/>
          </a:prstGeom>
          <a:solidFill>
            <a:srgbClr val="5496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FA9CC37-6D17-16D7-8C3B-FF05B79025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3299956"/>
              </p:ext>
            </p:extLst>
          </p:nvPr>
        </p:nvGraphicFramePr>
        <p:xfrm>
          <a:off x="1678200" y="1018673"/>
          <a:ext cx="5510463" cy="35930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519CFAF-EB5B-1BB6-63C7-C58FA93EB17C}"/>
              </a:ext>
            </a:extLst>
          </p:cNvPr>
          <p:cNvSpPr txBox="1"/>
          <p:nvPr/>
        </p:nvSpPr>
        <p:spPr>
          <a:xfrm>
            <a:off x="824072" y="1704773"/>
            <a:ext cx="221275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Weekly demographic checks; 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Flag &gt;10% disparate impact; 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Remove proxies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445A4B-F4AA-0FC1-BBE7-4B40B028B6D1}"/>
              </a:ext>
            </a:extLst>
          </p:cNvPr>
          <p:cNvSpPr txBox="1"/>
          <p:nvPr/>
        </p:nvSpPr>
        <p:spPr>
          <a:xfrm>
            <a:off x="824071" y="3274258"/>
            <a:ext cx="221275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GDPR/FCA/FCRA alignment; 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Audit trail (data, model, threshold, 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action, override)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D51AFB-9A21-8A55-58C0-61A810202591}"/>
              </a:ext>
            </a:extLst>
          </p:cNvPr>
          <p:cNvSpPr txBox="1"/>
          <p:nvPr/>
        </p:nvSpPr>
        <p:spPr>
          <a:xfrm>
            <a:off x="5873473" y="3274258"/>
            <a:ext cx="2882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Uncertainty flags to human queue; 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Customer appeal path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BE11BF-5ABE-5583-F90C-0F3D9D60A5A3}"/>
              </a:ext>
            </a:extLst>
          </p:cNvPr>
          <p:cNvSpPr txBox="1"/>
          <p:nvPr/>
        </p:nvSpPr>
        <p:spPr>
          <a:xfrm>
            <a:off x="5873472" y="1843870"/>
            <a:ext cx="2882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Plain-language reasons; 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SHAP for compliance reviews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C952A6-3912-73C5-DAAC-DC14F20D6AFD}"/>
              </a:ext>
            </a:extLst>
          </p:cNvPr>
          <p:cNvSpPr txBox="1"/>
          <p:nvPr/>
        </p:nvSpPr>
        <p:spPr>
          <a:xfrm>
            <a:off x="2260327" y="4708844"/>
            <a:ext cx="43462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US" sz="1100" b="1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Principle: Governance is built-in, not bolted 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Business Impact</a:t>
            </a: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BDC3BD-5C18-0A6A-B0EF-112BCC683D93}"/>
              </a:ext>
            </a:extLst>
          </p:cNvPr>
          <p:cNvSpPr/>
          <p:nvPr/>
        </p:nvSpPr>
        <p:spPr>
          <a:xfrm>
            <a:off x="0" y="0"/>
            <a:ext cx="127771" cy="5143500"/>
          </a:xfrm>
          <a:prstGeom prst="rect">
            <a:avLst/>
          </a:prstGeom>
          <a:solidFill>
            <a:srgbClr val="5496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F15985-75F8-7B8A-3B05-2BE6CFA379AD}"/>
              </a:ext>
            </a:extLst>
          </p:cNvPr>
          <p:cNvSpPr/>
          <p:nvPr/>
        </p:nvSpPr>
        <p:spPr>
          <a:xfrm>
            <a:off x="1385967" y="1589229"/>
            <a:ext cx="3092545" cy="944794"/>
          </a:xfrm>
          <a:prstGeom prst="rect">
            <a:avLst/>
          </a:prstGeom>
          <a:noFill/>
          <a:ln w="3175">
            <a:solidFill>
              <a:srgbClr val="039B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04BAA3-2D72-9322-A963-9582BD57BC24}"/>
              </a:ext>
            </a:extLst>
          </p:cNvPr>
          <p:cNvSpPr/>
          <p:nvPr/>
        </p:nvSpPr>
        <p:spPr>
          <a:xfrm>
            <a:off x="4622340" y="1589229"/>
            <a:ext cx="3135692" cy="944794"/>
          </a:xfrm>
          <a:prstGeom prst="rect">
            <a:avLst/>
          </a:prstGeom>
          <a:noFill/>
          <a:ln w="3175">
            <a:solidFill>
              <a:srgbClr val="039B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39BE5"/>
              </a:highligh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E11E35-38B8-52A4-01BA-EB515058AED8}"/>
              </a:ext>
            </a:extLst>
          </p:cNvPr>
          <p:cNvSpPr/>
          <p:nvPr/>
        </p:nvSpPr>
        <p:spPr>
          <a:xfrm>
            <a:off x="1385968" y="2807399"/>
            <a:ext cx="3092545" cy="944794"/>
          </a:xfrm>
          <a:prstGeom prst="rect">
            <a:avLst/>
          </a:prstGeom>
          <a:noFill/>
          <a:ln w="3175">
            <a:solidFill>
              <a:srgbClr val="5496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89B993-1ACA-1305-285B-F8E606BCCC95}"/>
              </a:ext>
            </a:extLst>
          </p:cNvPr>
          <p:cNvSpPr/>
          <p:nvPr/>
        </p:nvSpPr>
        <p:spPr>
          <a:xfrm>
            <a:off x="4622340" y="2807399"/>
            <a:ext cx="3135692" cy="944794"/>
          </a:xfrm>
          <a:prstGeom prst="rect">
            <a:avLst/>
          </a:prstGeom>
          <a:noFill/>
          <a:ln w="3175">
            <a:solidFill>
              <a:srgbClr val="5496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801485-59D7-0E9A-0EAB-169653568A5F}"/>
              </a:ext>
            </a:extLst>
          </p:cNvPr>
          <p:cNvSpPr txBox="1"/>
          <p:nvPr/>
        </p:nvSpPr>
        <p:spPr>
          <a:xfrm>
            <a:off x="1385966" y="1589229"/>
            <a:ext cx="30925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US" sz="1200" b="1" dirty="0">
                <a:solidFill>
                  <a:srgbClr val="039BE5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DELINQUENCY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1F56A2-E72F-6146-9600-11244A2346E7}"/>
              </a:ext>
            </a:extLst>
          </p:cNvPr>
          <p:cNvSpPr txBox="1"/>
          <p:nvPr/>
        </p:nvSpPr>
        <p:spPr>
          <a:xfrm>
            <a:off x="1385966" y="2807399"/>
            <a:ext cx="30925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US" sz="1200" b="1" dirty="0">
                <a:solidFill>
                  <a:srgbClr val="54965E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RIGHT-PARTY CONTACT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5B62FE-B8F2-2F1C-1212-C6119D962569}"/>
              </a:ext>
            </a:extLst>
          </p:cNvPr>
          <p:cNvSpPr txBox="1"/>
          <p:nvPr/>
        </p:nvSpPr>
        <p:spPr>
          <a:xfrm>
            <a:off x="4665489" y="1589229"/>
            <a:ext cx="30925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US" sz="1200" b="1" dirty="0">
                <a:solidFill>
                  <a:srgbClr val="039BE5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COST PER CONTACT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12B561-D071-2D04-A30A-2E503449A39D}"/>
              </a:ext>
            </a:extLst>
          </p:cNvPr>
          <p:cNvSpPr txBox="1"/>
          <p:nvPr/>
        </p:nvSpPr>
        <p:spPr>
          <a:xfrm>
            <a:off x="4665489" y="2807399"/>
            <a:ext cx="309254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US" sz="1200" b="1" dirty="0">
                <a:solidFill>
                  <a:srgbClr val="54965E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MODEL RECALL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0D95BD-94D9-1C79-7F86-52355AADBEF8}"/>
              </a:ext>
            </a:extLst>
          </p:cNvPr>
          <p:cNvSpPr txBox="1"/>
          <p:nvPr/>
        </p:nvSpPr>
        <p:spPr>
          <a:xfrm>
            <a:off x="1385966" y="1969403"/>
            <a:ext cx="3092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US" sz="1800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16% → ≤14% (−12%)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7C1170-ABF8-2BC4-305D-714F2C9899FB}"/>
              </a:ext>
            </a:extLst>
          </p:cNvPr>
          <p:cNvSpPr txBox="1"/>
          <p:nvPr/>
        </p:nvSpPr>
        <p:spPr>
          <a:xfrm>
            <a:off x="1385966" y="3187573"/>
            <a:ext cx="3092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US" sz="1800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55% → ≥70%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73419F-BEA5-19C2-33BA-D9E4B1FEAC2E}"/>
              </a:ext>
            </a:extLst>
          </p:cNvPr>
          <p:cNvSpPr txBox="1"/>
          <p:nvPr/>
        </p:nvSpPr>
        <p:spPr>
          <a:xfrm>
            <a:off x="4665489" y="1969403"/>
            <a:ext cx="3092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US" sz="1800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$8 → ≤$5 (−37%)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C91D8F-820B-4681-45E7-B9459C024086}"/>
              </a:ext>
            </a:extLst>
          </p:cNvPr>
          <p:cNvSpPr txBox="1"/>
          <p:nvPr/>
        </p:nvSpPr>
        <p:spPr>
          <a:xfrm>
            <a:off x="4665489" y="3187573"/>
            <a:ext cx="3092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US" sz="1800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70% → ≥80% (+10pp)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62D068-FEBC-803D-8EB1-63A0CFACAA78}"/>
              </a:ext>
            </a:extLst>
          </p:cNvPr>
          <p:cNvSpPr txBox="1"/>
          <p:nvPr/>
        </p:nvSpPr>
        <p:spPr>
          <a:xfrm>
            <a:off x="2347497" y="3978810"/>
            <a:ext cx="30925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US" sz="1100" b="1" dirty="0">
                <a:solidFill>
                  <a:srgbClr val="00B05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FINANCIAL IMPACT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24B844-ADD0-2958-0E5C-5D17C33FF354}"/>
              </a:ext>
            </a:extLst>
          </p:cNvPr>
          <p:cNvSpPr txBox="1"/>
          <p:nvPr/>
        </p:nvSpPr>
        <p:spPr>
          <a:xfrm>
            <a:off x="2347497" y="4240420"/>
            <a:ext cx="3565465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US" sz="1800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~$5.4M annual benefit; </a:t>
            </a:r>
          </a:p>
          <a:p>
            <a:pPr>
              <a:buClr>
                <a:schemeClr val="tx1"/>
              </a:buClr>
            </a:pPr>
            <a:r>
              <a:rPr lang="en-US" sz="1100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better customer experience via tailored outreach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E6D964E6-94BB-669C-16D9-E874A633C24A}"/>
              </a:ext>
            </a:extLst>
          </p:cNvPr>
          <p:cNvSpPr/>
          <p:nvPr/>
        </p:nvSpPr>
        <p:spPr>
          <a:xfrm>
            <a:off x="4163004" y="2031779"/>
            <a:ext cx="314121" cy="491416"/>
          </a:xfrm>
          <a:prstGeom prst="downArrow">
            <a:avLst/>
          </a:prstGeom>
          <a:solidFill>
            <a:srgbClr val="039BE5"/>
          </a:solidFill>
          <a:ln>
            <a:solidFill>
              <a:srgbClr val="039B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B568FF1C-A2D2-FA6C-584B-B6ADD54A44A3}"/>
              </a:ext>
            </a:extLst>
          </p:cNvPr>
          <p:cNvSpPr/>
          <p:nvPr/>
        </p:nvSpPr>
        <p:spPr>
          <a:xfrm>
            <a:off x="7443909" y="2031779"/>
            <a:ext cx="314121" cy="491416"/>
          </a:xfrm>
          <a:prstGeom prst="downArrow">
            <a:avLst/>
          </a:prstGeom>
          <a:solidFill>
            <a:srgbClr val="039BE5"/>
          </a:solidFill>
          <a:ln>
            <a:solidFill>
              <a:srgbClr val="039B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63BF133C-8928-8182-F442-4E245FC1F089}"/>
              </a:ext>
            </a:extLst>
          </p:cNvPr>
          <p:cNvSpPr/>
          <p:nvPr/>
        </p:nvSpPr>
        <p:spPr>
          <a:xfrm rot="10800000">
            <a:off x="4163004" y="3231039"/>
            <a:ext cx="314121" cy="502347"/>
          </a:xfrm>
          <a:prstGeom prst="downArrow">
            <a:avLst/>
          </a:prstGeom>
          <a:solidFill>
            <a:srgbClr val="54965E"/>
          </a:solidFill>
          <a:ln>
            <a:solidFill>
              <a:srgbClr val="5496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78498857-D178-3390-1B69-3B5D69F2AAC1}"/>
              </a:ext>
            </a:extLst>
          </p:cNvPr>
          <p:cNvSpPr/>
          <p:nvPr/>
        </p:nvSpPr>
        <p:spPr>
          <a:xfrm rot="10800000">
            <a:off x="7443909" y="3231143"/>
            <a:ext cx="314121" cy="502347"/>
          </a:xfrm>
          <a:prstGeom prst="downArrow">
            <a:avLst/>
          </a:prstGeom>
          <a:solidFill>
            <a:srgbClr val="54965E"/>
          </a:solidFill>
          <a:ln>
            <a:solidFill>
              <a:srgbClr val="5496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BA7EA1-43A3-9C79-5E63-389A81E060D0}"/>
              </a:ext>
            </a:extLst>
          </p:cNvPr>
          <p:cNvSpPr txBox="1"/>
          <p:nvPr/>
        </p:nvSpPr>
        <p:spPr>
          <a:xfrm>
            <a:off x="1618577" y="3870757"/>
            <a:ext cx="560478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US" sz="6500" b="1" dirty="0">
                <a:solidFill>
                  <a:srgbClr val="00B05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$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224E58-CE94-1903-C02D-880A5FBE85EB}"/>
              </a:ext>
            </a:extLst>
          </p:cNvPr>
          <p:cNvSpPr/>
          <p:nvPr/>
        </p:nvSpPr>
        <p:spPr>
          <a:xfrm>
            <a:off x="1385966" y="3914327"/>
            <a:ext cx="6372064" cy="94479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1373-ECCB-8893-C88B-952E49559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Rollout Plan (Pilot-First)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72A681-1373-FC8A-CEBC-7E6103579D98}"/>
              </a:ext>
            </a:extLst>
          </p:cNvPr>
          <p:cNvSpPr/>
          <p:nvPr/>
        </p:nvSpPr>
        <p:spPr>
          <a:xfrm>
            <a:off x="0" y="0"/>
            <a:ext cx="127771" cy="5143500"/>
          </a:xfrm>
          <a:prstGeom prst="rect">
            <a:avLst/>
          </a:prstGeom>
          <a:solidFill>
            <a:srgbClr val="5496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905F3C1-94FB-4601-C439-4970FD5662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05" t="60263" r="9016" b="26545"/>
          <a:stretch>
            <a:fillRect/>
          </a:stretch>
        </p:blipFill>
        <p:spPr bwMode="auto">
          <a:xfrm>
            <a:off x="2311852" y="3745832"/>
            <a:ext cx="4639858" cy="753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9FAEF076-B511-5E1B-1E4F-917AB55743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06" t="41598" r="9016" b="45209"/>
          <a:stretch>
            <a:fillRect/>
          </a:stretch>
        </p:blipFill>
        <p:spPr bwMode="auto">
          <a:xfrm>
            <a:off x="2311852" y="2726937"/>
            <a:ext cx="4639857" cy="753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54A681F9-78C4-82CC-2282-761DC11A02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24" t="22364" r="9098" b="63366"/>
          <a:stretch>
            <a:fillRect/>
          </a:stretch>
        </p:blipFill>
        <p:spPr bwMode="auto">
          <a:xfrm>
            <a:off x="2311852" y="1708042"/>
            <a:ext cx="4639857" cy="81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16766C0-E498-AF8C-AA7B-36D6F607FD90}"/>
              </a:ext>
            </a:extLst>
          </p:cNvPr>
          <p:cNvSpPr/>
          <p:nvPr/>
        </p:nvSpPr>
        <p:spPr>
          <a:xfrm>
            <a:off x="3188692" y="1780858"/>
            <a:ext cx="3220130" cy="677108"/>
          </a:xfrm>
          <a:prstGeom prst="rect">
            <a:avLst/>
          </a:prstGeom>
          <a:solidFill>
            <a:srgbClr val="ACD0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23812A-A7DE-8AB8-5161-621254E66280}"/>
              </a:ext>
            </a:extLst>
          </p:cNvPr>
          <p:cNvSpPr/>
          <p:nvPr/>
        </p:nvSpPr>
        <p:spPr>
          <a:xfrm>
            <a:off x="3188692" y="2796173"/>
            <a:ext cx="3220130" cy="677108"/>
          </a:xfrm>
          <a:prstGeom prst="rect">
            <a:avLst/>
          </a:prstGeom>
          <a:solidFill>
            <a:srgbClr val="F3BD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08376C-6B29-7C47-EE13-BFF068D298FA}"/>
              </a:ext>
            </a:extLst>
          </p:cNvPr>
          <p:cNvSpPr/>
          <p:nvPr/>
        </p:nvSpPr>
        <p:spPr>
          <a:xfrm>
            <a:off x="3188692" y="3784267"/>
            <a:ext cx="3220130" cy="677108"/>
          </a:xfrm>
          <a:prstGeom prst="rect">
            <a:avLst/>
          </a:prstGeom>
          <a:solidFill>
            <a:srgbClr val="BDD2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BE1B3C-92C7-7F74-1D94-57E262BF3619}"/>
              </a:ext>
            </a:extLst>
          </p:cNvPr>
          <p:cNvSpPr txBox="1"/>
          <p:nvPr/>
        </p:nvSpPr>
        <p:spPr>
          <a:xfrm>
            <a:off x="3092438" y="1799687"/>
            <a:ext cx="463985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tx2">
                    <a:lumMod val="10000"/>
                  </a:schemeClr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Pilot / Weeks 1–6: </a:t>
            </a:r>
          </a:p>
          <a:p>
            <a:pPr>
              <a:buClr>
                <a:schemeClr val="tx1"/>
              </a:buClr>
            </a:pPr>
            <a:r>
              <a:rPr lang="en-US" sz="1200" dirty="0">
                <a:solidFill>
                  <a:schemeClr val="tx2">
                    <a:lumMod val="10000"/>
                  </a:schemeClr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high-risk only (~2K); </a:t>
            </a:r>
          </a:p>
          <a:p>
            <a:pPr>
              <a:buClr>
                <a:schemeClr val="tx1"/>
              </a:buClr>
            </a:pPr>
            <a:r>
              <a:rPr lang="en-US" sz="1200" dirty="0">
                <a:solidFill>
                  <a:schemeClr val="tx2">
                    <a:lumMod val="10000"/>
                  </a:schemeClr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success: ≥8% delinquency reduction, &lt;3% opt-outs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2F501D-1855-CFC7-CAC7-FA0AA2915BDF}"/>
              </a:ext>
            </a:extLst>
          </p:cNvPr>
          <p:cNvSpPr txBox="1"/>
          <p:nvPr/>
        </p:nvSpPr>
        <p:spPr>
          <a:xfrm>
            <a:off x="3092437" y="2900931"/>
            <a:ext cx="463985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tx2">
                    <a:lumMod val="10000"/>
                  </a:schemeClr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Evaluate / Weeks 7–8: </a:t>
            </a:r>
          </a:p>
          <a:p>
            <a:pPr>
              <a:buClr>
                <a:schemeClr val="tx1"/>
              </a:buClr>
            </a:pPr>
            <a:r>
              <a:rPr lang="en-US" sz="1200" dirty="0">
                <a:solidFill>
                  <a:schemeClr val="tx2">
                    <a:lumMod val="10000"/>
                  </a:schemeClr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analyze, refine thresholds/messaging, go/no-go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BBE9E3-15F8-0716-97E4-32A93EA09AD3}"/>
              </a:ext>
            </a:extLst>
          </p:cNvPr>
          <p:cNvSpPr txBox="1"/>
          <p:nvPr/>
        </p:nvSpPr>
        <p:spPr>
          <a:xfrm>
            <a:off x="3092437" y="3876599"/>
            <a:ext cx="463985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tx2">
                    <a:lumMod val="10000"/>
                  </a:schemeClr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Scale / Months 3–6: </a:t>
            </a:r>
          </a:p>
          <a:p>
            <a:pPr>
              <a:buClr>
                <a:schemeClr val="tx1"/>
              </a:buClr>
            </a:pPr>
            <a:r>
              <a:rPr lang="en-US" sz="1200" dirty="0">
                <a:solidFill>
                  <a:schemeClr val="tx2">
                    <a:lumMod val="10000"/>
                  </a:schemeClr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add medium-risk; enable portal; uptime &gt;99.5%</a:t>
            </a:r>
          </a:p>
        </p:txBody>
      </p:sp>
    </p:spTree>
    <p:extLst>
      <p:ext uri="{BB962C8B-B14F-4D97-AF65-F5344CB8AC3E}">
        <p14:creationId xmlns:p14="http://schemas.microsoft.com/office/powerpoint/2010/main" val="890219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A8C2E-248F-DA40-9EAD-5C869594C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06465-DD7F-41C1-EEC1-4CEDD2DD3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Ask &amp; Next Steps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DE908E-5F45-88FE-B60D-6C202B4AB13D}"/>
              </a:ext>
            </a:extLst>
          </p:cNvPr>
          <p:cNvSpPr/>
          <p:nvPr/>
        </p:nvSpPr>
        <p:spPr>
          <a:xfrm>
            <a:off x="0" y="0"/>
            <a:ext cx="127771" cy="5143500"/>
          </a:xfrm>
          <a:prstGeom prst="rect">
            <a:avLst/>
          </a:prstGeom>
          <a:solidFill>
            <a:srgbClr val="5496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744B98-8AC5-5249-9537-193D7411EE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766" t="28578" r="17469" b="27810"/>
          <a:stretch>
            <a:fillRect/>
          </a:stretch>
        </p:blipFill>
        <p:spPr>
          <a:xfrm>
            <a:off x="2133600" y="1548063"/>
            <a:ext cx="4580022" cy="299185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CBE3EAD-49D0-D490-C64F-74CC0D9ADABD}"/>
              </a:ext>
            </a:extLst>
          </p:cNvPr>
          <p:cNvSpPr/>
          <p:nvPr/>
        </p:nvSpPr>
        <p:spPr>
          <a:xfrm>
            <a:off x="2069431" y="2326105"/>
            <a:ext cx="4716379" cy="328863"/>
          </a:xfrm>
          <a:prstGeom prst="rect">
            <a:avLst/>
          </a:prstGeom>
          <a:solidFill>
            <a:srgbClr val="0051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B480D2-2183-5C5D-3160-5ECA2900B241}"/>
              </a:ext>
            </a:extLst>
          </p:cNvPr>
          <p:cNvSpPr/>
          <p:nvPr/>
        </p:nvSpPr>
        <p:spPr>
          <a:xfrm>
            <a:off x="2065421" y="3473115"/>
            <a:ext cx="4716379" cy="328863"/>
          </a:xfrm>
          <a:prstGeom prst="rect">
            <a:avLst/>
          </a:prstGeom>
          <a:solidFill>
            <a:srgbClr val="0051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32A557-F8C0-36BE-E404-F27987F5D65B}"/>
              </a:ext>
            </a:extLst>
          </p:cNvPr>
          <p:cNvSpPr/>
          <p:nvPr/>
        </p:nvSpPr>
        <p:spPr>
          <a:xfrm>
            <a:off x="2685209" y="1790138"/>
            <a:ext cx="3956224" cy="423673"/>
          </a:xfrm>
          <a:prstGeom prst="rect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7BC5D1-D633-C526-1378-CD1479168EBF}"/>
              </a:ext>
            </a:extLst>
          </p:cNvPr>
          <p:cNvSpPr/>
          <p:nvPr/>
        </p:nvSpPr>
        <p:spPr>
          <a:xfrm>
            <a:off x="2723470" y="2858015"/>
            <a:ext cx="3956224" cy="423673"/>
          </a:xfrm>
          <a:prstGeom prst="rect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AF30EC-A489-6418-7F39-A54879D47730}"/>
              </a:ext>
            </a:extLst>
          </p:cNvPr>
          <p:cNvSpPr/>
          <p:nvPr/>
        </p:nvSpPr>
        <p:spPr>
          <a:xfrm>
            <a:off x="2723470" y="3898079"/>
            <a:ext cx="3956224" cy="423673"/>
          </a:xfrm>
          <a:prstGeom prst="rect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0B6D23-244A-7812-EE25-D7AC6BB7A2ED}"/>
              </a:ext>
            </a:extLst>
          </p:cNvPr>
          <p:cNvSpPr txBox="1"/>
          <p:nvPr/>
        </p:nvSpPr>
        <p:spPr>
          <a:xfrm>
            <a:off x="2641093" y="1815281"/>
            <a:ext cx="46398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tx2">
                    <a:lumMod val="10000"/>
                  </a:schemeClr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Approve $ 250K pilot budget (6 weeks)</a:t>
            </a:r>
            <a:endParaRPr lang="en-US" sz="1200" dirty="0">
              <a:solidFill>
                <a:schemeClr val="tx2">
                  <a:lumMod val="10000"/>
                </a:schemeClr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0FADB3-2944-6D8B-0610-673CD82A872D}"/>
              </a:ext>
            </a:extLst>
          </p:cNvPr>
          <p:cNvSpPr txBox="1"/>
          <p:nvPr/>
        </p:nvSpPr>
        <p:spPr>
          <a:xfrm>
            <a:off x="2685209" y="2802431"/>
            <a:ext cx="38038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tx2">
                    <a:lumMod val="10000"/>
                  </a:schemeClr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Align IT, Compliance, Collections, Risk on data access and escalation playbooks</a:t>
            </a:r>
            <a:endParaRPr lang="en-US" sz="1200" dirty="0">
              <a:solidFill>
                <a:schemeClr val="tx2">
                  <a:lumMod val="10000"/>
                </a:schemeClr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812DC3-7CE9-D35E-8B30-FBC7E94E1103}"/>
              </a:ext>
            </a:extLst>
          </p:cNvPr>
          <p:cNvSpPr txBox="1"/>
          <p:nvPr/>
        </p:nvSpPr>
        <p:spPr>
          <a:xfrm>
            <a:off x="2685209" y="3985210"/>
            <a:ext cx="46398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tx2">
                    <a:lumMod val="10000"/>
                  </a:schemeClr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Kick off Week 1; steering review at Week 8</a:t>
            </a:r>
            <a:endParaRPr lang="en-US" sz="1200" dirty="0">
              <a:solidFill>
                <a:schemeClr val="tx2">
                  <a:lumMod val="10000"/>
                </a:schemeClr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9781231"/>
      </p:ext>
    </p:extLst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321</Words>
  <Application>Microsoft Office PowerPoint</Application>
  <PresentationFormat>On-screen Show (16:9)</PresentationFormat>
  <Paragraphs>78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Roboto Slab</vt:lpstr>
      <vt:lpstr>Arial</vt:lpstr>
      <vt:lpstr>Roboto</vt:lpstr>
      <vt:lpstr>Marina</vt:lpstr>
      <vt:lpstr>AI-Powered Collections Strategy</vt:lpstr>
      <vt:lpstr>How the System Works</vt:lpstr>
      <vt:lpstr>Role of Agentic AI</vt:lpstr>
      <vt:lpstr>Responsible AI Guardrails</vt:lpstr>
      <vt:lpstr>Expected Business Impact</vt:lpstr>
      <vt:lpstr>Rollout Plan (Pilot-First)</vt:lpstr>
      <vt:lpstr>Ask &amp; 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Sydney Wharf Concierge</cp:lastModifiedBy>
  <cp:revision>4</cp:revision>
  <dcterms:modified xsi:type="dcterms:W3CDTF">2025-12-14T01:49:30Z</dcterms:modified>
</cp:coreProperties>
</file>